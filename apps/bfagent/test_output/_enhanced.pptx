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863" r:id="rId2"/>
    <p:sldId id="1445" r:id="rId3"/>
    <p:sldId id="1448" r:id="rId4"/>
    <p:sldId id="1461" r:id="rId5"/>
    <p:sldId id="1446" r:id="rId6"/>
    <p:sldId id="1181" r:id="rId7"/>
    <p:sldId id="1429" r:id="rId8"/>
    <p:sldId id="1430" r:id="rId9"/>
    <p:sldId id="1431" r:id="rId10"/>
    <p:sldId id="1444" r:id="rId11"/>
    <p:sldId id="1462" r:id="rId18"/>
    <p:sldId id="1463" r:id="rId19"/>
    <p:sldId id="1464" r:id="rId20"/>
    <p:sldId id="1465" r:id="rId21"/>
    <p:sldId id="1466" r:id="rId22"/>
    <p:sldId id="1467" r:id="rId24"/>
    <p:sldId id="1468" r:id="rId25"/>
    <p:sldId id="1469" r:id="rId26"/>
  </p:sldIdLst>
  <p:sldSz cx="9906000" cy="6858000" type="A4"/>
  <p:notesSz cx="6797675" cy="9926638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r" rtl="0" eaLnBrk="0" fontAlgn="base" hangingPunct="0">
      <a:lnSpc>
        <a:spcPct val="90000"/>
      </a:lnSpc>
      <a:spcBef>
        <a:spcPct val="0"/>
      </a:spcBef>
      <a:spcAft>
        <a:spcPct val="0"/>
      </a:spcAft>
      <a:defRPr sz="800" b="1" kern="1200">
        <a:solidFill>
          <a:srgbClr val="000000"/>
        </a:solidFill>
        <a:latin typeface="Arial" charset="0"/>
        <a:ea typeface="+mn-ea"/>
        <a:cs typeface="+mn-cs"/>
      </a:defRPr>
    </a:lvl1pPr>
    <a:lvl2pPr marL="457200" algn="r" rtl="0" eaLnBrk="0" fontAlgn="base" hangingPunct="0">
      <a:lnSpc>
        <a:spcPct val="90000"/>
      </a:lnSpc>
      <a:spcBef>
        <a:spcPct val="0"/>
      </a:spcBef>
      <a:spcAft>
        <a:spcPct val="0"/>
      </a:spcAft>
      <a:defRPr sz="800" b="1" kern="1200">
        <a:solidFill>
          <a:srgbClr val="000000"/>
        </a:solidFill>
        <a:latin typeface="Arial" charset="0"/>
        <a:ea typeface="+mn-ea"/>
        <a:cs typeface="+mn-cs"/>
      </a:defRPr>
    </a:lvl2pPr>
    <a:lvl3pPr marL="914400" algn="r" rtl="0" eaLnBrk="0" fontAlgn="base" hangingPunct="0">
      <a:lnSpc>
        <a:spcPct val="90000"/>
      </a:lnSpc>
      <a:spcBef>
        <a:spcPct val="0"/>
      </a:spcBef>
      <a:spcAft>
        <a:spcPct val="0"/>
      </a:spcAft>
      <a:defRPr sz="800" b="1" kern="1200">
        <a:solidFill>
          <a:srgbClr val="000000"/>
        </a:solidFill>
        <a:latin typeface="Arial" charset="0"/>
        <a:ea typeface="+mn-ea"/>
        <a:cs typeface="+mn-cs"/>
      </a:defRPr>
    </a:lvl3pPr>
    <a:lvl4pPr marL="1371600" algn="r" rtl="0" eaLnBrk="0" fontAlgn="base" hangingPunct="0">
      <a:lnSpc>
        <a:spcPct val="90000"/>
      </a:lnSpc>
      <a:spcBef>
        <a:spcPct val="0"/>
      </a:spcBef>
      <a:spcAft>
        <a:spcPct val="0"/>
      </a:spcAft>
      <a:defRPr sz="800" b="1" kern="1200">
        <a:solidFill>
          <a:srgbClr val="000000"/>
        </a:solidFill>
        <a:latin typeface="Arial" charset="0"/>
        <a:ea typeface="+mn-ea"/>
        <a:cs typeface="+mn-cs"/>
      </a:defRPr>
    </a:lvl4pPr>
    <a:lvl5pPr marL="1828800" algn="r" rtl="0" eaLnBrk="0" fontAlgn="base" hangingPunct="0">
      <a:lnSpc>
        <a:spcPct val="90000"/>
      </a:lnSpc>
      <a:spcBef>
        <a:spcPct val="0"/>
      </a:spcBef>
      <a:spcAft>
        <a:spcPct val="0"/>
      </a:spcAft>
      <a:defRPr sz="800" b="1" kern="1200">
        <a:solidFill>
          <a:srgbClr val="000000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800" b="1" kern="1200">
        <a:solidFill>
          <a:srgbClr val="000000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800" b="1" kern="1200">
        <a:solidFill>
          <a:srgbClr val="000000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800" b="1" kern="1200">
        <a:solidFill>
          <a:srgbClr val="000000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800" b="1" kern="1200">
        <a:solidFill>
          <a:srgbClr val="000000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>
          <p15:clr>
            <a:srgbClr val="A4A3A4"/>
          </p15:clr>
        </p15:guide>
        <p15:guide id="2" orient="horz" pos="3158">
          <p15:clr>
            <a:srgbClr val="A4A3A4"/>
          </p15:clr>
        </p15:guide>
        <p15:guide id="3" orient="horz" pos="1162">
          <p15:clr>
            <a:srgbClr val="A4A3A4"/>
          </p15:clr>
        </p15:guide>
        <p15:guide id="4" orient="horz" pos="1525">
          <p15:clr>
            <a:srgbClr val="A4A3A4"/>
          </p15:clr>
        </p15:guide>
        <p15:guide id="5" orient="horz" pos="300" userDrawn="1">
          <p15:clr>
            <a:srgbClr val="A4A3A4"/>
          </p15:clr>
        </p15:guide>
        <p15:guide id="6" orient="horz" pos="255">
          <p15:clr>
            <a:srgbClr val="A4A3A4"/>
          </p15:clr>
        </p15:guide>
        <p15:guide id="7" pos="4254">
          <p15:clr>
            <a:srgbClr val="A4A3A4"/>
          </p15:clr>
        </p15:guide>
        <p15:guide id="8" pos="671">
          <p15:clr>
            <a:srgbClr val="A4A3A4"/>
          </p15:clr>
        </p15:guide>
        <p15:guide id="9" pos="59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4D4D4D"/>
    <a:srgbClr val="CC3300"/>
    <a:srgbClr val="FFCC66"/>
    <a:srgbClr val="FFCC00"/>
    <a:srgbClr val="FF9900"/>
    <a:srgbClr val="9966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27" autoAdjust="0"/>
    <p:restoredTop sz="67847" autoAdjust="0"/>
  </p:normalViewPr>
  <p:slideViewPr>
    <p:cSldViewPr>
      <p:cViewPr varScale="1">
        <p:scale>
          <a:sx n="85" d="100"/>
          <a:sy n="85" d="100"/>
        </p:scale>
        <p:origin x="2436" y="300"/>
      </p:cViewPr>
      <p:guideLst>
        <p:guide orient="horz" pos="1979"/>
        <p:guide orient="horz" pos="3158"/>
        <p:guide orient="horz" pos="1162"/>
        <p:guide orient="horz" pos="1525"/>
        <p:guide orient="horz" pos="300"/>
        <p:guide orient="horz" pos="255"/>
        <p:guide pos="4254"/>
        <p:guide pos="671"/>
        <p:guide pos="5932"/>
      </p:guideLst>
    </p:cSldViewPr>
  </p:slideViewPr>
  <p:outlineViewPr>
    <p:cViewPr>
      <p:scale>
        <a:sx n="33" d="100"/>
        <a:sy n="33" d="100"/>
      </p:scale>
      <p:origin x="0" y="-145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0044"/>
    </p:cViewPr>
  </p:sorterViewPr>
  <p:notesViewPr>
    <p:cSldViewPr>
      <p:cViewPr varScale="1">
        <p:scale>
          <a:sx n="51" d="100"/>
          <a:sy n="51" d="100"/>
        </p:scale>
        <p:origin x="-1860" y="-78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4A7EF7-5494-4C10-AE9E-596E49810BE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4DDE2543-B648-4626-86DD-5B9739E48B17}">
      <dgm:prSet custT="1"/>
      <dgm:spPr>
        <a:solidFill>
          <a:schemeClr val="bg1">
            <a:lumMod val="85000"/>
          </a:schemeClr>
        </a:solidFill>
      </dgm:spPr>
      <dgm:t>
        <a:bodyPr/>
        <a:lstStyle/>
        <a:p>
          <a:pPr rtl="0"/>
          <a:r>
            <a:rPr lang="de-DE" sz="900" b="1" dirty="0">
              <a:solidFill>
                <a:schemeClr val="tx1">
                  <a:lumMod val="50000"/>
                </a:schemeClr>
              </a:solidFill>
            </a:rPr>
            <a:t>Grundlagen</a:t>
          </a:r>
        </a:p>
      </dgm:t>
    </dgm:pt>
    <dgm:pt modelId="{248AD973-F06F-477C-947B-9F46E1DB3AB7}" type="parTrans" cxnId="{4905A667-4FFB-4063-971B-3AC2D387E7C6}">
      <dgm:prSet/>
      <dgm:spPr/>
      <dgm:t>
        <a:bodyPr/>
        <a:lstStyle/>
        <a:p>
          <a:endParaRPr lang="de-DE" sz="900" b="1">
            <a:solidFill>
              <a:schemeClr val="tx1">
                <a:lumMod val="50000"/>
              </a:schemeClr>
            </a:solidFill>
          </a:endParaRPr>
        </a:p>
      </dgm:t>
    </dgm:pt>
    <dgm:pt modelId="{53BA74DE-D78A-4C7B-B89D-639699FEF358}" type="sibTrans" cxnId="{4905A667-4FFB-4063-971B-3AC2D387E7C6}">
      <dgm:prSet/>
      <dgm:spPr/>
      <dgm:t>
        <a:bodyPr/>
        <a:lstStyle/>
        <a:p>
          <a:endParaRPr lang="de-DE" sz="900" b="1">
            <a:solidFill>
              <a:schemeClr val="tx1">
                <a:lumMod val="50000"/>
              </a:schemeClr>
            </a:solidFill>
          </a:endParaRPr>
        </a:p>
      </dgm:t>
    </dgm:pt>
    <dgm:pt modelId="{DF9D532E-091A-4CAA-859E-89FD8C785748}">
      <dgm:prSet custT="1"/>
      <dgm:spPr>
        <a:solidFill>
          <a:schemeClr val="accent1"/>
        </a:solidFill>
      </dgm:spPr>
      <dgm:t>
        <a:bodyPr/>
        <a:lstStyle/>
        <a:p>
          <a:pPr rtl="0"/>
          <a:r>
            <a:rPr lang="de-DE" sz="900" b="1" dirty="0">
              <a:solidFill>
                <a:schemeClr val="tx1">
                  <a:lumMod val="50000"/>
                </a:schemeClr>
              </a:solidFill>
            </a:rPr>
            <a:t>Zyklus-konzepte</a:t>
          </a:r>
        </a:p>
      </dgm:t>
    </dgm:pt>
    <dgm:pt modelId="{2147CFA1-75AA-4952-8E8F-0C1C6A1CEE49}" type="parTrans" cxnId="{3F88DCBA-D5DE-4C0F-A49A-2335862848BC}">
      <dgm:prSet/>
      <dgm:spPr/>
      <dgm:t>
        <a:bodyPr/>
        <a:lstStyle/>
        <a:p>
          <a:endParaRPr lang="de-DE"/>
        </a:p>
      </dgm:t>
    </dgm:pt>
    <dgm:pt modelId="{C62AA827-BE9F-4195-9EB6-550F098DA449}" type="sibTrans" cxnId="{3F88DCBA-D5DE-4C0F-A49A-2335862848BC}">
      <dgm:prSet/>
      <dgm:spPr/>
      <dgm:t>
        <a:bodyPr/>
        <a:lstStyle/>
        <a:p>
          <a:endParaRPr lang="de-DE"/>
        </a:p>
      </dgm:t>
    </dgm:pt>
    <dgm:pt modelId="{7A387C0C-C241-4FB0-952A-2DDF5E9CC2EF}">
      <dgm:prSet custT="1"/>
      <dgm:spPr>
        <a:solidFill>
          <a:schemeClr val="accent1"/>
        </a:solidFill>
      </dgm:spPr>
      <dgm:t>
        <a:bodyPr/>
        <a:lstStyle/>
        <a:p>
          <a:r>
            <a:rPr lang="de-DE" sz="900" dirty="0">
              <a:solidFill>
                <a:schemeClr val="tx1">
                  <a:lumMod val="50000"/>
                </a:schemeClr>
              </a:solidFill>
              <a:latin typeface="Segoe UI" panose="020B0502040204020203" pitchFamily="34" charset="0"/>
            </a:rPr>
            <a:t>betriebliche Lebenszyklus </a:t>
          </a:r>
          <a:endParaRPr lang="de-DE" sz="900" b="1" dirty="0">
            <a:solidFill>
              <a:schemeClr val="tx1">
                <a:lumMod val="50000"/>
              </a:schemeClr>
            </a:solidFill>
          </a:endParaRPr>
        </a:p>
      </dgm:t>
    </dgm:pt>
    <dgm:pt modelId="{B27FBE59-B2F1-4350-9AE4-95F9B32035F1}" type="parTrans" cxnId="{798E3A17-221F-48F5-A25E-03352CEF9E6E}">
      <dgm:prSet/>
      <dgm:spPr/>
      <dgm:t>
        <a:bodyPr/>
        <a:lstStyle/>
        <a:p>
          <a:endParaRPr lang="de-DE"/>
        </a:p>
      </dgm:t>
    </dgm:pt>
    <dgm:pt modelId="{8FC839FD-3942-4040-8225-4B30DD66B1AB}" type="sibTrans" cxnId="{798E3A17-221F-48F5-A25E-03352CEF9E6E}">
      <dgm:prSet/>
      <dgm:spPr/>
      <dgm:t>
        <a:bodyPr/>
        <a:lstStyle/>
        <a:p>
          <a:endParaRPr lang="de-DE"/>
        </a:p>
      </dgm:t>
    </dgm:pt>
    <dgm:pt modelId="{51E09792-D2C6-4619-B331-541769576A82}" type="pres">
      <dgm:prSet presAssocID="{F54A7EF7-5494-4C10-AE9E-596E49810BEA}" presName="Name0" presStyleCnt="0">
        <dgm:presLayoutVars>
          <dgm:dir/>
          <dgm:animLvl val="lvl"/>
          <dgm:resizeHandles val="exact"/>
        </dgm:presLayoutVars>
      </dgm:prSet>
      <dgm:spPr/>
    </dgm:pt>
    <dgm:pt modelId="{D06BDF68-4060-4CBC-98CD-C06536A20941}" type="pres">
      <dgm:prSet presAssocID="{4DDE2543-B648-4626-86DD-5B9739E48B17}" presName="parTxOnly" presStyleLbl="node1" presStyleIdx="0" presStyleCnt="3" custScaleX="100098" custLinFactNeighborY="-4104">
        <dgm:presLayoutVars>
          <dgm:chMax val="0"/>
          <dgm:chPref val="0"/>
          <dgm:bulletEnabled val="1"/>
        </dgm:presLayoutVars>
      </dgm:prSet>
      <dgm:spPr/>
    </dgm:pt>
    <dgm:pt modelId="{C1C0A425-3D6B-4396-9A08-CF62DDD9FAEA}" type="pres">
      <dgm:prSet presAssocID="{53BA74DE-D78A-4C7B-B89D-639699FEF358}" presName="parTxOnlySpace" presStyleCnt="0"/>
      <dgm:spPr/>
    </dgm:pt>
    <dgm:pt modelId="{036495EB-F3CD-4077-9288-3F93E5971B85}" type="pres">
      <dgm:prSet presAssocID="{DF9D532E-091A-4CAA-859E-89FD8C785748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56AD8265-84AA-4060-ADD2-A3EA1E086A3E}" type="pres">
      <dgm:prSet presAssocID="{C62AA827-BE9F-4195-9EB6-550F098DA449}" presName="parTxOnlySpace" presStyleCnt="0"/>
      <dgm:spPr/>
    </dgm:pt>
    <dgm:pt modelId="{FC737E6D-75F2-4F4F-A65F-3F0E7E604DEA}" type="pres">
      <dgm:prSet presAssocID="{7A387C0C-C241-4FB0-952A-2DDF5E9CC2EF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798E3A17-221F-48F5-A25E-03352CEF9E6E}" srcId="{F54A7EF7-5494-4C10-AE9E-596E49810BEA}" destId="{7A387C0C-C241-4FB0-952A-2DDF5E9CC2EF}" srcOrd="2" destOrd="0" parTransId="{B27FBE59-B2F1-4350-9AE4-95F9B32035F1}" sibTransId="{8FC839FD-3942-4040-8225-4B30DD66B1AB}"/>
    <dgm:cxn modelId="{4905A667-4FFB-4063-971B-3AC2D387E7C6}" srcId="{F54A7EF7-5494-4C10-AE9E-596E49810BEA}" destId="{4DDE2543-B648-4626-86DD-5B9739E48B17}" srcOrd="0" destOrd="0" parTransId="{248AD973-F06F-477C-947B-9F46E1DB3AB7}" sibTransId="{53BA74DE-D78A-4C7B-B89D-639699FEF358}"/>
    <dgm:cxn modelId="{92577F73-041F-43EC-BFAE-0EB0CD4DA784}" type="presOf" srcId="{4DDE2543-B648-4626-86DD-5B9739E48B17}" destId="{D06BDF68-4060-4CBC-98CD-C06536A20941}" srcOrd="0" destOrd="0" presId="urn:microsoft.com/office/officeart/2005/8/layout/chevron1"/>
    <dgm:cxn modelId="{152C3555-482E-42F2-A646-8ED16EFBBD64}" type="presOf" srcId="{DF9D532E-091A-4CAA-859E-89FD8C785748}" destId="{036495EB-F3CD-4077-9288-3F93E5971B85}" srcOrd="0" destOrd="0" presId="urn:microsoft.com/office/officeart/2005/8/layout/chevron1"/>
    <dgm:cxn modelId="{A899F7B6-53EB-480F-88EA-0683A14CF1D6}" type="presOf" srcId="{F54A7EF7-5494-4C10-AE9E-596E49810BEA}" destId="{51E09792-D2C6-4619-B331-541769576A82}" srcOrd="0" destOrd="0" presId="urn:microsoft.com/office/officeart/2005/8/layout/chevron1"/>
    <dgm:cxn modelId="{3F88DCBA-D5DE-4C0F-A49A-2335862848BC}" srcId="{F54A7EF7-5494-4C10-AE9E-596E49810BEA}" destId="{DF9D532E-091A-4CAA-859E-89FD8C785748}" srcOrd="1" destOrd="0" parTransId="{2147CFA1-75AA-4952-8E8F-0C1C6A1CEE49}" sibTransId="{C62AA827-BE9F-4195-9EB6-550F098DA449}"/>
    <dgm:cxn modelId="{AEEE39C9-0B1A-40AF-9C73-39A40D89E24B}" type="presOf" srcId="{7A387C0C-C241-4FB0-952A-2DDF5E9CC2EF}" destId="{FC737E6D-75F2-4F4F-A65F-3F0E7E604DEA}" srcOrd="0" destOrd="0" presId="urn:microsoft.com/office/officeart/2005/8/layout/chevron1"/>
    <dgm:cxn modelId="{5E1B5863-C4A0-4D62-8B6F-6FEE47100080}" type="presParOf" srcId="{51E09792-D2C6-4619-B331-541769576A82}" destId="{D06BDF68-4060-4CBC-98CD-C06536A20941}" srcOrd="0" destOrd="0" presId="urn:microsoft.com/office/officeart/2005/8/layout/chevron1"/>
    <dgm:cxn modelId="{4B09ED24-0BF8-4BC4-8C70-5FAB5C173EA5}" type="presParOf" srcId="{51E09792-D2C6-4619-B331-541769576A82}" destId="{C1C0A425-3D6B-4396-9A08-CF62DDD9FAEA}" srcOrd="1" destOrd="0" presId="urn:microsoft.com/office/officeart/2005/8/layout/chevron1"/>
    <dgm:cxn modelId="{026D560C-834A-425A-89EC-B0EAB8F2DB84}" type="presParOf" srcId="{51E09792-D2C6-4619-B331-541769576A82}" destId="{036495EB-F3CD-4077-9288-3F93E5971B85}" srcOrd="2" destOrd="0" presId="urn:microsoft.com/office/officeart/2005/8/layout/chevron1"/>
    <dgm:cxn modelId="{8823B4F8-E102-4761-BA64-5B331338F7E5}" type="presParOf" srcId="{51E09792-D2C6-4619-B331-541769576A82}" destId="{56AD8265-84AA-4060-ADD2-A3EA1E086A3E}" srcOrd="3" destOrd="0" presId="urn:microsoft.com/office/officeart/2005/8/layout/chevron1"/>
    <dgm:cxn modelId="{A2F46A58-1ADC-40B2-A8DE-039753227564}" type="presParOf" srcId="{51E09792-D2C6-4619-B331-541769576A82}" destId="{FC737E6D-75F2-4F4F-A65F-3F0E7E604DEA}" srcOrd="4" destOrd="0" presId="urn:microsoft.com/office/officeart/2005/8/layout/chevron1"/>
  </dgm:cxnLst>
  <dgm:bg/>
  <dgm:whole>
    <a:ln>
      <a:solidFill>
        <a:schemeClr val="bg2">
          <a:lumMod val="90000"/>
        </a:schemeClr>
      </a:solidFill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4A7EF7-5494-4C10-AE9E-596E49810BE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4DDE2543-B648-4626-86DD-5B9739E48B17}">
      <dgm:prSet custT="1"/>
      <dgm:spPr>
        <a:solidFill>
          <a:schemeClr val="bg1">
            <a:lumMod val="85000"/>
          </a:schemeClr>
        </a:solidFill>
      </dgm:spPr>
      <dgm:t>
        <a:bodyPr/>
        <a:lstStyle/>
        <a:p>
          <a:pPr rtl="0"/>
          <a:r>
            <a:rPr lang="de-DE" sz="900" b="1" dirty="0">
              <a:solidFill>
                <a:schemeClr val="tx1">
                  <a:lumMod val="50000"/>
                </a:schemeClr>
              </a:solidFill>
            </a:rPr>
            <a:t>Grundlagen</a:t>
          </a:r>
        </a:p>
      </dgm:t>
    </dgm:pt>
    <dgm:pt modelId="{248AD973-F06F-477C-947B-9F46E1DB3AB7}" type="parTrans" cxnId="{4905A667-4FFB-4063-971B-3AC2D387E7C6}">
      <dgm:prSet/>
      <dgm:spPr/>
      <dgm:t>
        <a:bodyPr/>
        <a:lstStyle/>
        <a:p>
          <a:endParaRPr lang="de-DE" sz="900" b="1">
            <a:solidFill>
              <a:schemeClr val="tx1">
                <a:lumMod val="50000"/>
              </a:schemeClr>
            </a:solidFill>
          </a:endParaRPr>
        </a:p>
      </dgm:t>
    </dgm:pt>
    <dgm:pt modelId="{53BA74DE-D78A-4C7B-B89D-639699FEF358}" type="sibTrans" cxnId="{4905A667-4FFB-4063-971B-3AC2D387E7C6}">
      <dgm:prSet/>
      <dgm:spPr/>
      <dgm:t>
        <a:bodyPr/>
        <a:lstStyle/>
        <a:p>
          <a:endParaRPr lang="de-DE" sz="900" b="1">
            <a:solidFill>
              <a:schemeClr val="tx1">
                <a:lumMod val="50000"/>
              </a:schemeClr>
            </a:solidFill>
          </a:endParaRPr>
        </a:p>
      </dgm:t>
    </dgm:pt>
    <dgm:pt modelId="{DF9D532E-091A-4CAA-859E-89FD8C785748}">
      <dgm:prSet custT="1"/>
      <dgm:spPr>
        <a:solidFill>
          <a:schemeClr val="accent1"/>
        </a:solidFill>
      </dgm:spPr>
      <dgm:t>
        <a:bodyPr/>
        <a:lstStyle/>
        <a:p>
          <a:pPr rtl="0"/>
          <a:r>
            <a:rPr lang="de-DE" sz="900" b="1" dirty="0">
              <a:solidFill>
                <a:schemeClr val="tx1">
                  <a:lumMod val="50000"/>
                </a:schemeClr>
              </a:solidFill>
            </a:rPr>
            <a:t>Zyklus-konzepte</a:t>
          </a:r>
        </a:p>
      </dgm:t>
    </dgm:pt>
    <dgm:pt modelId="{2147CFA1-75AA-4952-8E8F-0C1C6A1CEE49}" type="parTrans" cxnId="{3F88DCBA-D5DE-4C0F-A49A-2335862848BC}">
      <dgm:prSet/>
      <dgm:spPr/>
      <dgm:t>
        <a:bodyPr/>
        <a:lstStyle/>
        <a:p>
          <a:endParaRPr lang="de-DE"/>
        </a:p>
      </dgm:t>
    </dgm:pt>
    <dgm:pt modelId="{C62AA827-BE9F-4195-9EB6-550F098DA449}" type="sibTrans" cxnId="{3F88DCBA-D5DE-4C0F-A49A-2335862848BC}">
      <dgm:prSet/>
      <dgm:spPr/>
      <dgm:t>
        <a:bodyPr/>
        <a:lstStyle/>
        <a:p>
          <a:endParaRPr lang="de-DE"/>
        </a:p>
      </dgm:t>
    </dgm:pt>
    <dgm:pt modelId="{7A387C0C-C241-4FB0-952A-2DDF5E9CC2EF}">
      <dgm:prSet custT="1"/>
      <dgm:spPr>
        <a:solidFill>
          <a:schemeClr val="accent1"/>
        </a:solidFill>
      </dgm:spPr>
      <dgm:t>
        <a:bodyPr/>
        <a:lstStyle/>
        <a:p>
          <a:r>
            <a:rPr lang="de-DE" sz="900" dirty="0">
              <a:solidFill>
                <a:schemeClr val="tx1">
                  <a:lumMod val="50000"/>
                </a:schemeClr>
              </a:solidFill>
              <a:latin typeface="Segoe UI" panose="020B0502040204020203" pitchFamily="34" charset="0"/>
            </a:rPr>
            <a:t>Lebens-ereignisse</a:t>
          </a:r>
          <a:endParaRPr lang="de-DE" sz="900" b="1" dirty="0">
            <a:solidFill>
              <a:schemeClr val="tx1">
                <a:lumMod val="50000"/>
              </a:schemeClr>
            </a:solidFill>
          </a:endParaRPr>
        </a:p>
      </dgm:t>
    </dgm:pt>
    <dgm:pt modelId="{B27FBE59-B2F1-4350-9AE4-95F9B32035F1}" type="parTrans" cxnId="{798E3A17-221F-48F5-A25E-03352CEF9E6E}">
      <dgm:prSet/>
      <dgm:spPr/>
      <dgm:t>
        <a:bodyPr/>
        <a:lstStyle/>
        <a:p>
          <a:endParaRPr lang="de-DE"/>
        </a:p>
      </dgm:t>
    </dgm:pt>
    <dgm:pt modelId="{8FC839FD-3942-4040-8225-4B30DD66B1AB}" type="sibTrans" cxnId="{798E3A17-221F-48F5-A25E-03352CEF9E6E}">
      <dgm:prSet/>
      <dgm:spPr/>
      <dgm:t>
        <a:bodyPr/>
        <a:lstStyle/>
        <a:p>
          <a:endParaRPr lang="de-DE"/>
        </a:p>
      </dgm:t>
    </dgm:pt>
    <dgm:pt modelId="{51E09792-D2C6-4619-B331-541769576A82}" type="pres">
      <dgm:prSet presAssocID="{F54A7EF7-5494-4C10-AE9E-596E49810BEA}" presName="Name0" presStyleCnt="0">
        <dgm:presLayoutVars>
          <dgm:dir/>
          <dgm:animLvl val="lvl"/>
          <dgm:resizeHandles val="exact"/>
        </dgm:presLayoutVars>
      </dgm:prSet>
      <dgm:spPr/>
    </dgm:pt>
    <dgm:pt modelId="{D06BDF68-4060-4CBC-98CD-C06536A20941}" type="pres">
      <dgm:prSet presAssocID="{4DDE2543-B648-4626-86DD-5B9739E48B17}" presName="parTxOnly" presStyleLbl="node1" presStyleIdx="0" presStyleCnt="3" custScaleX="100098" custLinFactNeighborY="-4104">
        <dgm:presLayoutVars>
          <dgm:chMax val="0"/>
          <dgm:chPref val="0"/>
          <dgm:bulletEnabled val="1"/>
        </dgm:presLayoutVars>
      </dgm:prSet>
      <dgm:spPr/>
    </dgm:pt>
    <dgm:pt modelId="{C1C0A425-3D6B-4396-9A08-CF62DDD9FAEA}" type="pres">
      <dgm:prSet presAssocID="{53BA74DE-D78A-4C7B-B89D-639699FEF358}" presName="parTxOnlySpace" presStyleCnt="0"/>
      <dgm:spPr/>
    </dgm:pt>
    <dgm:pt modelId="{036495EB-F3CD-4077-9288-3F93E5971B85}" type="pres">
      <dgm:prSet presAssocID="{DF9D532E-091A-4CAA-859E-89FD8C785748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56AD8265-84AA-4060-ADD2-A3EA1E086A3E}" type="pres">
      <dgm:prSet presAssocID="{C62AA827-BE9F-4195-9EB6-550F098DA449}" presName="parTxOnlySpace" presStyleCnt="0"/>
      <dgm:spPr/>
    </dgm:pt>
    <dgm:pt modelId="{FC737E6D-75F2-4F4F-A65F-3F0E7E604DEA}" type="pres">
      <dgm:prSet presAssocID="{7A387C0C-C241-4FB0-952A-2DDF5E9CC2EF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798E3A17-221F-48F5-A25E-03352CEF9E6E}" srcId="{F54A7EF7-5494-4C10-AE9E-596E49810BEA}" destId="{7A387C0C-C241-4FB0-952A-2DDF5E9CC2EF}" srcOrd="2" destOrd="0" parTransId="{B27FBE59-B2F1-4350-9AE4-95F9B32035F1}" sibTransId="{8FC839FD-3942-4040-8225-4B30DD66B1AB}"/>
    <dgm:cxn modelId="{4905A667-4FFB-4063-971B-3AC2D387E7C6}" srcId="{F54A7EF7-5494-4C10-AE9E-596E49810BEA}" destId="{4DDE2543-B648-4626-86DD-5B9739E48B17}" srcOrd="0" destOrd="0" parTransId="{248AD973-F06F-477C-947B-9F46E1DB3AB7}" sibTransId="{53BA74DE-D78A-4C7B-B89D-639699FEF358}"/>
    <dgm:cxn modelId="{92577F73-041F-43EC-BFAE-0EB0CD4DA784}" type="presOf" srcId="{4DDE2543-B648-4626-86DD-5B9739E48B17}" destId="{D06BDF68-4060-4CBC-98CD-C06536A20941}" srcOrd="0" destOrd="0" presId="urn:microsoft.com/office/officeart/2005/8/layout/chevron1"/>
    <dgm:cxn modelId="{152C3555-482E-42F2-A646-8ED16EFBBD64}" type="presOf" srcId="{DF9D532E-091A-4CAA-859E-89FD8C785748}" destId="{036495EB-F3CD-4077-9288-3F93E5971B85}" srcOrd="0" destOrd="0" presId="urn:microsoft.com/office/officeart/2005/8/layout/chevron1"/>
    <dgm:cxn modelId="{A899F7B6-53EB-480F-88EA-0683A14CF1D6}" type="presOf" srcId="{F54A7EF7-5494-4C10-AE9E-596E49810BEA}" destId="{51E09792-D2C6-4619-B331-541769576A82}" srcOrd="0" destOrd="0" presId="urn:microsoft.com/office/officeart/2005/8/layout/chevron1"/>
    <dgm:cxn modelId="{3F88DCBA-D5DE-4C0F-A49A-2335862848BC}" srcId="{F54A7EF7-5494-4C10-AE9E-596E49810BEA}" destId="{DF9D532E-091A-4CAA-859E-89FD8C785748}" srcOrd="1" destOrd="0" parTransId="{2147CFA1-75AA-4952-8E8F-0C1C6A1CEE49}" sibTransId="{C62AA827-BE9F-4195-9EB6-550F098DA449}"/>
    <dgm:cxn modelId="{AEEE39C9-0B1A-40AF-9C73-39A40D89E24B}" type="presOf" srcId="{7A387C0C-C241-4FB0-952A-2DDF5E9CC2EF}" destId="{FC737E6D-75F2-4F4F-A65F-3F0E7E604DEA}" srcOrd="0" destOrd="0" presId="urn:microsoft.com/office/officeart/2005/8/layout/chevron1"/>
    <dgm:cxn modelId="{5E1B5863-C4A0-4D62-8B6F-6FEE47100080}" type="presParOf" srcId="{51E09792-D2C6-4619-B331-541769576A82}" destId="{D06BDF68-4060-4CBC-98CD-C06536A20941}" srcOrd="0" destOrd="0" presId="urn:microsoft.com/office/officeart/2005/8/layout/chevron1"/>
    <dgm:cxn modelId="{4B09ED24-0BF8-4BC4-8C70-5FAB5C173EA5}" type="presParOf" srcId="{51E09792-D2C6-4619-B331-541769576A82}" destId="{C1C0A425-3D6B-4396-9A08-CF62DDD9FAEA}" srcOrd="1" destOrd="0" presId="urn:microsoft.com/office/officeart/2005/8/layout/chevron1"/>
    <dgm:cxn modelId="{026D560C-834A-425A-89EC-B0EAB8F2DB84}" type="presParOf" srcId="{51E09792-D2C6-4619-B331-541769576A82}" destId="{036495EB-F3CD-4077-9288-3F93E5971B85}" srcOrd="2" destOrd="0" presId="urn:microsoft.com/office/officeart/2005/8/layout/chevron1"/>
    <dgm:cxn modelId="{8823B4F8-E102-4761-BA64-5B331338F7E5}" type="presParOf" srcId="{51E09792-D2C6-4619-B331-541769576A82}" destId="{56AD8265-84AA-4060-ADD2-A3EA1E086A3E}" srcOrd="3" destOrd="0" presId="urn:microsoft.com/office/officeart/2005/8/layout/chevron1"/>
    <dgm:cxn modelId="{A2F46A58-1ADC-40B2-A8DE-039753227564}" type="presParOf" srcId="{51E09792-D2C6-4619-B331-541769576A82}" destId="{FC737E6D-75F2-4F4F-A65F-3F0E7E604DEA}" srcOrd="4" destOrd="0" presId="urn:microsoft.com/office/officeart/2005/8/layout/chevron1"/>
  </dgm:cxnLst>
  <dgm:bg/>
  <dgm:whole>
    <a:ln>
      <a:solidFill>
        <a:schemeClr val="bg2">
          <a:lumMod val="90000"/>
        </a:schemeClr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4A7EF7-5494-4C10-AE9E-596E49810BE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4DDE2543-B648-4626-86DD-5B9739E48B17}">
      <dgm:prSet custT="1"/>
      <dgm:spPr>
        <a:solidFill>
          <a:schemeClr val="bg1">
            <a:lumMod val="85000"/>
          </a:schemeClr>
        </a:solidFill>
      </dgm:spPr>
      <dgm:t>
        <a:bodyPr/>
        <a:lstStyle/>
        <a:p>
          <a:pPr rtl="0"/>
          <a:r>
            <a:rPr lang="de-DE" sz="900" b="1" dirty="0">
              <a:solidFill>
                <a:schemeClr val="tx1">
                  <a:lumMod val="50000"/>
                </a:schemeClr>
              </a:solidFill>
            </a:rPr>
            <a:t>Grundlagen</a:t>
          </a:r>
        </a:p>
      </dgm:t>
    </dgm:pt>
    <dgm:pt modelId="{248AD973-F06F-477C-947B-9F46E1DB3AB7}" type="parTrans" cxnId="{4905A667-4FFB-4063-971B-3AC2D387E7C6}">
      <dgm:prSet/>
      <dgm:spPr/>
      <dgm:t>
        <a:bodyPr/>
        <a:lstStyle/>
        <a:p>
          <a:endParaRPr lang="de-DE" sz="900" b="1">
            <a:solidFill>
              <a:schemeClr val="tx1">
                <a:lumMod val="50000"/>
              </a:schemeClr>
            </a:solidFill>
          </a:endParaRPr>
        </a:p>
      </dgm:t>
    </dgm:pt>
    <dgm:pt modelId="{53BA74DE-D78A-4C7B-B89D-639699FEF358}" type="sibTrans" cxnId="{4905A667-4FFB-4063-971B-3AC2D387E7C6}">
      <dgm:prSet/>
      <dgm:spPr/>
      <dgm:t>
        <a:bodyPr/>
        <a:lstStyle/>
        <a:p>
          <a:endParaRPr lang="de-DE" sz="900" b="1">
            <a:solidFill>
              <a:schemeClr val="tx1">
                <a:lumMod val="50000"/>
              </a:schemeClr>
            </a:solidFill>
          </a:endParaRPr>
        </a:p>
      </dgm:t>
    </dgm:pt>
    <dgm:pt modelId="{DF9D532E-091A-4CAA-859E-89FD8C785748}">
      <dgm:prSet custT="1"/>
      <dgm:spPr>
        <a:solidFill>
          <a:schemeClr val="accent1"/>
        </a:solidFill>
      </dgm:spPr>
      <dgm:t>
        <a:bodyPr/>
        <a:lstStyle/>
        <a:p>
          <a:pPr rtl="0"/>
          <a:r>
            <a:rPr lang="de-DE" sz="900" b="1" dirty="0">
              <a:solidFill>
                <a:schemeClr val="tx1">
                  <a:lumMod val="50000"/>
                </a:schemeClr>
              </a:solidFill>
            </a:rPr>
            <a:t>Zyklus-konzepte</a:t>
          </a:r>
        </a:p>
      </dgm:t>
    </dgm:pt>
    <dgm:pt modelId="{2147CFA1-75AA-4952-8E8F-0C1C6A1CEE49}" type="parTrans" cxnId="{3F88DCBA-D5DE-4C0F-A49A-2335862848BC}">
      <dgm:prSet/>
      <dgm:spPr/>
      <dgm:t>
        <a:bodyPr/>
        <a:lstStyle/>
        <a:p>
          <a:endParaRPr lang="de-DE"/>
        </a:p>
      </dgm:t>
    </dgm:pt>
    <dgm:pt modelId="{C62AA827-BE9F-4195-9EB6-550F098DA449}" type="sibTrans" cxnId="{3F88DCBA-D5DE-4C0F-A49A-2335862848BC}">
      <dgm:prSet/>
      <dgm:spPr/>
      <dgm:t>
        <a:bodyPr/>
        <a:lstStyle/>
        <a:p>
          <a:endParaRPr lang="de-DE"/>
        </a:p>
      </dgm:t>
    </dgm:pt>
    <dgm:pt modelId="{7A387C0C-C241-4FB0-952A-2DDF5E9CC2EF}">
      <dgm:prSet custT="1"/>
      <dgm:spPr>
        <a:solidFill>
          <a:schemeClr val="accent1"/>
        </a:solidFill>
      </dgm:spPr>
      <dgm:t>
        <a:bodyPr/>
        <a:lstStyle/>
        <a:p>
          <a:r>
            <a:rPr lang="de-DE" sz="900" b="1" dirty="0">
              <a:solidFill>
                <a:schemeClr val="tx1">
                  <a:lumMod val="50000"/>
                </a:schemeClr>
              </a:solidFill>
            </a:rPr>
            <a:t>Integration d. Konzepte</a:t>
          </a:r>
        </a:p>
      </dgm:t>
    </dgm:pt>
    <dgm:pt modelId="{B27FBE59-B2F1-4350-9AE4-95F9B32035F1}" type="parTrans" cxnId="{798E3A17-221F-48F5-A25E-03352CEF9E6E}">
      <dgm:prSet/>
      <dgm:spPr/>
      <dgm:t>
        <a:bodyPr/>
        <a:lstStyle/>
        <a:p>
          <a:endParaRPr lang="de-DE"/>
        </a:p>
      </dgm:t>
    </dgm:pt>
    <dgm:pt modelId="{8FC839FD-3942-4040-8225-4B30DD66B1AB}" type="sibTrans" cxnId="{798E3A17-221F-48F5-A25E-03352CEF9E6E}">
      <dgm:prSet/>
      <dgm:spPr/>
      <dgm:t>
        <a:bodyPr/>
        <a:lstStyle/>
        <a:p>
          <a:endParaRPr lang="de-DE"/>
        </a:p>
      </dgm:t>
    </dgm:pt>
    <dgm:pt modelId="{51E09792-D2C6-4619-B331-541769576A82}" type="pres">
      <dgm:prSet presAssocID="{F54A7EF7-5494-4C10-AE9E-596E49810BEA}" presName="Name0" presStyleCnt="0">
        <dgm:presLayoutVars>
          <dgm:dir/>
          <dgm:animLvl val="lvl"/>
          <dgm:resizeHandles val="exact"/>
        </dgm:presLayoutVars>
      </dgm:prSet>
      <dgm:spPr/>
    </dgm:pt>
    <dgm:pt modelId="{D06BDF68-4060-4CBC-98CD-C06536A20941}" type="pres">
      <dgm:prSet presAssocID="{4DDE2543-B648-4626-86DD-5B9739E48B17}" presName="parTxOnly" presStyleLbl="node1" presStyleIdx="0" presStyleCnt="3" custScaleX="100098" custLinFactNeighborY="-4104">
        <dgm:presLayoutVars>
          <dgm:chMax val="0"/>
          <dgm:chPref val="0"/>
          <dgm:bulletEnabled val="1"/>
        </dgm:presLayoutVars>
      </dgm:prSet>
      <dgm:spPr/>
    </dgm:pt>
    <dgm:pt modelId="{C1C0A425-3D6B-4396-9A08-CF62DDD9FAEA}" type="pres">
      <dgm:prSet presAssocID="{53BA74DE-D78A-4C7B-B89D-639699FEF358}" presName="parTxOnlySpace" presStyleCnt="0"/>
      <dgm:spPr/>
    </dgm:pt>
    <dgm:pt modelId="{036495EB-F3CD-4077-9288-3F93E5971B85}" type="pres">
      <dgm:prSet presAssocID="{DF9D532E-091A-4CAA-859E-89FD8C785748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56AD8265-84AA-4060-ADD2-A3EA1E086A3E}" type="pres">
      <dgm:prSet presAssocID="{C62AA827-BE9F-4195-9EB6-550F098DA449}" presName="parTxOnlySpace" presStyleCnt="0"/>
      <dgm:spPr/>
    </dgm:pt>
    <dgm:pt modelId="{FC737E6D-75F2-4F4F-A65F-3F0E7E604DEA}" type="pres">
      <dgm:prSet presAssocID="{7A387C0C-C241-4FB0-952A-2DDF5E9CC2EF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798E3A17-221F-48F5-A25E-03352CEF9E6E}" srcId="{F54A7EF7-5494-4C10-AE9E-596E49810BEA}" destId="{7A387C0C-C241-4FB0-952A-2DDF5E9CC2EF}" srcOrd="2" destOrd="0" parTransId="{B27FBE59-B2F1-4350-9AE4-95F9B32035F1}" sibTransId="{8FC839FD-3942-4040-8225-4B30DD66B1AB}"/>
    <dgm:cxn modelId="{4905A667-4FFB-4063-971B-3AC2D387E7C6}" srcId="{F54A7EF7-5494-4C10-AE9E-596E49810BEA}" destId="{4DDE2543-B648-4626-86DD-5B9739E48B17}" srcOrd="0" destOrd="0" parTransId="{248AD973-F06F-477C-947B-9F46E1DB3AB7}" sibTransId="{53BA74DE-D78A-4C7B-B89D-639699FEF358}"/>
    <dgm:cxn modelId="{92577F73-041F-43EC-BFAE-0EB0CD4DA784}" type="presOf" srcId="{4DDE2543-B648-4626-86DD-5B9739E48B17}" destId="{D06BDF68-4060-4CBC-98CD-C06536A20941}" srcOrd="0" destOrd="0" presId="urn:microsoft.com/office/officeart/2005/8/layout/chevron1"/>
    <dgm:cxn modelId="{152C3555-482E-42F2-A646-8ED16EFBBD64}" type="presOf" srcId="{DF9D532E-091A-4CAA-859E-89FD8C785748}" destId="{036495EB-F3CD-4077-9288-3F93E5971B85}" srcOrd="0" destOrd="0" presId="urn:microsoft.com/office/officeart/2005/8/layout/chevron1"/>
    <dgm:cxn modelId="{A899F7B6-53EB-480F-88EA-0683A14CF1D6}" type="presOf" srcId="{F54A7EF7-5494-4C10-AE9E-596E49810BEA}" destId="{51E09792-D2C6-4619-B331-541769576A82}" srcOrd="0" destOrd="0" presId="urn:microsoft.com/office/officeart/2005/8/layout/chevron1"/>
    <dgm:cxn modelId="{3F88DCBA-D5DE-4C0F-A49A-2335862848BC}" srcId="{F54A7EF7-5494-4C10-AE9E-596E49810BEA}" destId="{DF9D532E-091A-4CAA-859E-89FD8C785748}" srcOrd="1" destOrd="0" parTransId="{2147CFA1-75AA-4952-8E8F-0C1C6A1CEE49}" sibTransId="{C62AA827-BE9F-4195-9EB6-550F098DA449}"/>
    <dgm:cxn modelId="{AEEE39C9-0B1A-40AF-9C73-39A40D89E24B}" type="presOf" srcId="{7A387C0C-C241-4FB0-952A-2DDF5E9CC2EF}" destId="{FC737E6D-75F2-4F4F-A65F-3F0E7E604DEA}" srcOrd="0" destOrd="0" presId="urn:microsoft.com/office/officeart/2005/8/layout/chevron1"/>
    <dgm:cxn modelId="{5E1B5863-C4A0-4D62-8B6F-6FEE47100080}" type="presParOf" srcId="{51E09792-D2C6-4619-B331-541769576A82}" destId="{D06BDF68-4060-4CBC-98CD-C06536A20941}" srcOrd="0" destOrd="0" presId="urn:microsoft.com/office/officeart/2005/8/layout/chevron1"/>
    <dgm:cxn modelId="{4B09ED24-0BF8-4BC4-8C70-5FAB5C173EA5}" type="presParOf" srcId="{51E09792-D2C6-4619-B331-541769576A82}" destId="{C1C0A425-3D6B-4396-9A08-CF62DDD9FAEA}" srcOrd="1" destOrd="0" presId="urn:microsoft.com/office/officeart/2005/8/layout/chevron1"/>
    <dgm:cxn modelId="{026D560C-834A-425A-89EC-B0EAB8F2DB84}" type="presParOf" srcId="{51E09792-D2C6-4619-B331-541769576A82}" destId="{036495EB-F3CD-4077-9288-3F93E5971B85}" srcOrd="2" destOrd="0" presId="urn:microsoft.com/office/officeart/2005/8/layout/chevron1"/>
    <dgm:cxn modelId="{8823B4F8-E102-4761-BA64-5B331338F7E5}" type="presParOf" srcId="{51E09792-D2C6-4619-B331-541769576A82}" destId="{56AD8265-84AA-4060-ADD2-A3EA1E086A3E}" srcOrd="3" destOrd="0" presId="urn:microsoft.com/office/officeart/2005/8/layout/chevron1"/>
    <dgm:cxn modelId="{A2F46A58-1ADC-40B2-A8DE-039753227564}" type="presParOf" srcId="{51E09792-D2C6-4619-B331-541769576A82}" destId="{FC737E6D-75F2-4F4F-A65F-3F0E7E604DEA}" srcOrd="4" destOrd="0" presId="urn:microsoft.com/office/officeart/2005/8/layout/chevron1"/>
  </dgm:cxnLst>
  <dgm:bg/>
  <dgm:whole>
    <a:ln>
      <a:solidFill>
        <a:schemeClr val="bg2">
          <a:lumMod val="90000"/>
        </a:schemeClr>
      </a:solidFill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54A7EF7-5494-4C10-AE9E-596E49810BE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DF9D532E-091A-4CAA-859E-89FD8C785748}">
      <dgm:prSet custT="1"/>
      <dgm:spPr>
        <a:solidFill>
          <a:schemeClr val="bg1">
            <a:lumMod val="85000"/>
          </a:schemeClr>
        </a:solidFill>
      </dgm:spPr>
      <dgm:t>
        <a:bodyPr/>
        <a:lstStyle/>
        <a:p>
          <a:pPr rtl="0"/>
          <a:r>
            <a:rPr lang="de-DE" sz="900" b="1" dirty="0">
              <a:solidFill>
                <a:schemeClr val="tx1"/>
              </a:solidFill>
            </a:rPr>
            <a:t>Literaturhinweise</a:t>
          </a:r>
        </a:p>
      </dgm:t>
    </dgm:pt>
    <dgm:pt modelId="{2147CFA1-75AA-4952-8E8F-0C1C6A1CEE49}" type="parTrans" cxnId="{3F88DCBA-D5DE-4C0F-A49A-2335862848BC}">
      <dgm:prSet/>
      <dgm:spPr/>
      <dgm:t>
        <a:bodyPr/>
        <a:lstStyle/>
        <a:p>
          <a:endParaRPr lang="de-DE">
            <a:solidFill>
              <a:schemeClr val="tx1"/>
            </a:solidFill>
          </a:endParaRPr>
        </a:p>
      </dgm:t>
    </dgm:pt>
    <dgm:pt modelId="{C62AA827-BE9F-4195-9EB6-550F098DA449}" type="sibTrans" cxnId="{3F88DCBA-D5DE-4C0F-A49A-2335862848BC}">
      <dgm:prSet/>
      <dgm:spPr/>
      <dgm:t>
        <a:bodyPr/>
        <a:lstStyle/>
        <a:p>
          <a:endParaRPr lang="de-DE">
            <a:solidFill>
              <a:schemeClr val="tx1"/>
            </a:solidFill>
          </a:endParaRPr>
        </a:p>
      </dgm:t>
    </dgm:pt>
    <dgm:pt modelId="{51E09792-D2C6-4619-B331-541769576A82}" type="pres">
      <dgm:prSet presAssocID="{F54A7EF7-5494-4C10-AE9E-596E49810BEA}" presName="Name0" presStyleCnt="0">
        <dgm:presLayoutVars>
          <dgm:dir/>
          <dgm:animLvl val="lvl"/>
          <dgm:resizeHandles val="exact"/>
        </dgm:presLayoutVars>
      </dgm:prSet>
      <dgm:spPr/>
    </dgm:pt>
    <dgm:pt modelId="{036495EB-F3CD-4077-9288-3F93E5971B85}" type="pres">
      <dgm:prSet presAssocID="{DF9D532E-091A-4CAA-859E-89FD8C785748}" presName="parTxOnly" presStyleLbl="node1" presStyleIdx="0" presStyleCnt="1">
        <dgm:presLayoutVars>
          <dgm:chMax val="0"/>
          <dgm:chPref val="0"/>
          <dgm:bulletEnabled val="1"/>
        </dgm:presLayoutVars>
      </dgm:prSet>
      <dgm:spPr/>
    </dgm:pt>
  </dgm:ptLst>
  <dgm:cxnLst>
    <dgm:cxn modelId="{152C3555-482E-42F2-A646-8ED16EFBBD64}" type="presOf" srcId="{DF9D532E-091A-4CAA-859E-89FD8C785748}" destId="{036495EB-F3CD-4077-9288-3F93E5971B85}" srcOrd="0" destOrd="0" presId="urn:microsoft.com/office/officeart/2005/8/layout/chevron1"/>
    <dgm:cxn modelId="{A899F7B6-53EB-480F-88EA-0683A14CF1D6}" type="presOf" srcId="{F54A7EF7-5494-4C10-AE9E-596E49810BEA}" destId="{51E09792-D2C6-4619-B331-541769576A82}" srcOrd="0" destOrd="0" presId="urn:microsoft.com/office/officeart/2005/8/layout/chevron1"/>
    <dgm:cxn modelId="{3F88DCBA-D5DE-4C0F-A49A-2335862848BC}" srcId="{F54A7EF7-5494-4C10-AE9E-596E49810BEA}" destId="{DF9D532E-091A-4CAA-859E-89FD8C785748}" srcOrd="0" destOrd="0" parTransId="{2147CFA1-75AA-4952-8E8F-0C1C6A1CEE49}" sibTransId="{C62AA827-BE9F-4195-9EB6-550F098DA449}"/>
    <dgm:cxn modelId="{026D560C-834A-425A-89EC-B0EAB8F2DB84}" type="presParOf" srcId="{51E09792-D2C6-4619-B331-541769576A82}" destId="{036495EB-F3CD-4077-9288-3F93E5971B85}" srcOrd="0" destOrd="0" presId="urn:microsoft.com/office/officeart/2005/8/layout/chevron1"/>
  </dgm:cxnLst>
  <dgm:bg/>
  <dgm:whole>
    <a:ln>
      <a:solidFill>
        <a:schemeClr val="bg2">
          <a:lumMod val="90000"/>
        </a:schemeClr>
      </a:solidFill>
    </a:ln>
  </dgm:whole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6BDF68-4060-4CBC-98CD-C06536A20941}">
      <dsp:nvSpPr>
        <dsp:cNvPr id="0" name=""/>
        <dsp:cNvSpPr/>
      </dsp:nvSpPr>
      <dsp:spPr>
        <a:xfrm>
          <a:off x="399" y="0"/>
          <a:ext cx="1209181" cy="483198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>
                  <a:lumMod val="50000"/>
                </a:schemeClr>
              </a:solidFill>
            </a:rPr>
            <a:t>Grundlagen</a:t>
          </a:r>
        </a:p>
      </dsp:txBody>
      <dsp:txXfrm>
        <a:off x="241998" y="0"/>
        <a:ext cx="725983" cy="483198"/>
      </dsp:txXfrm>
    </dsp:sp>
    <dsp:sp modelId="{036495EB-F3CD-4077-9288-3F93E5971B85}">
      <dsp:nvSpPr>
        <dsp:cNvPr id="0" name=""/>
        <dsp:cNvSpPr/>
      </dsp:nvSpPr>
      <dsp:spPr>
        <a:xfrm>
          <a:off x="1088781" y="9800"/>
          <a:ext cx="1207997" cy="483198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>
                  <a:lumMod val="50000"/>
                </a:schemeClr>
              </a:solidFill>
            </a:rPr>
            <a:t>Zyklus-konzepte</a:t>
          </a:r>
        </a:p>
      </dsp:txBody>
      <dsp:txXfrm>
        <a:off x="1330380" y="9800"/>
        <a:ext cx="724799" cy="483198"/>
      </dsp:txXfrm>
    </dsp:sp>
    <dsp:sp modelId="{FC737E6D-75F2-4F4F-A65F-3F0E7E604DEA}">
      <dsp:nvSpPr>
        <dsp:cNvPr id="0" name=""/>
        <dsp:cNvSpPr/>
      </dsp:nvSpPr>
      <dsp:spPr>
        <a:xfrm>
          <a:off x="2175978" y="9800"/>
          <a:ext cx="1207997" cy="483198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>
              <a:solidFill>
                <a:schemeClr val="tx1">
                  <a:lumMod val="50000"/>
                </a:schemeClr>
              </a:solidFill>
              <a:latin typeface="Segoe UI" panose="020B0502040204020203" pitchFamily="34" charset="0"/>
            </a:rPr>
            <a:t>betriebliche Lebenszyklus </a:t>
          </a:r>
          <a:endParaRPr lang="de-DE" sz="900" b="1" kern="1200" dirty="0">
            <a:solidFill>
              <a:schemeClr val="tx1">
                <a:lumMod val="50000"/>
              </a:schemeClr>
            </a:solidFill>
          </a:endParaRPr>
        </a:p>
      </dsp:txBody>
      <dsp:txXfrm>
        <a:off x="2417577" y="9800"/>
        <a:ext cx="724799" cy="4831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6BDF68-4060-4CBC-98CD-C06536A20941}">
      <dsp:nvSpPr>
        <dsp:cNvPr id="0" name=""/>
        <dsp:cNvSpPr/>
      </dsp:nvSpPr>
      <dsp:spPr>
        <a:xfrm>
          <a:off x="399" y="0"/>
          <a:ext cx="1209181" cy="483198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>
                  <a:lumMod val="50000"/>
                </a:schemeClr>
              </a:solidFill>
            </a:rPr>
            <a:t>Grundlagen</a:t>
          </a:r>
        </a:p>
      </dsp:txBody>
      <dsp:txXfrm>
        <a:off x="241998" y="0"/>
        <a:ext cx="725983" cy="483198"/>
      </dsp:txXfrm>
    </dsp:sp>
    <dsp:sp modelId="{036495EB-F3CD-4077-9288-3F93E5971B85}">
      <dsp:nvSpPr>
        <dsp:cNvPr id="0" name=""/>
        <dsp:cNvSpPr/>
      </dsp:nvSpPr>
      <dsp:spPr>
        <a:xfrm>
          <a:off x="1088781" y="9800"/>
          <a:ext cx="1207997" cy="483198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>
                  <a:lumMod val="50000"/>
                </a:schemeClr>
              </a:solidFill>
            </a:rPr>
            <a:t>Zyklus-konzepte</a:t>
          </a:r>
        </a:p>
      </dsp:txBody>
      <dsp:txXfrm>
        <a:off x="1330380" y="9800"/>
        <a:ext cx="724799" cy="483198"/>
      </dsp:txXfrm>
    </dsp:sp>
    <dsp:sp modelId="{FC737E6D-75F2-4F4F-A65F-3F0E7E604DEA}">
      <dsp:nvSpPr>
        <dsp:cNvPr id="0" name=""/>
        <dsp:cNvSpPr/>
      </dsp:nvSpPr>
      <dsp:spPr>
        <a:xfrm>
          <a:off x="2175978" y="9800"/>
          <a:ext cx="1207997" cy="483198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>
              <a:solidFill>
                <a:schemeClr val="tx1">
                  <a:lumMod val="50000"/>
                </a:schemeClr>
              </a:solidFill>
              <a:latin typeface="Segoe UI" panose="020B0502040204020203" pitchFamily="34" charset="0"/>
            </a:rPr>
            <a:t>Lebens-ereignisse</a:t>
          </a:r>
          <a:endParaRPr lang="de-DE" sz="900" b="1" kern="1200" dirty="0">
            <a:solidFill>
              <a:schemeClr val="tx1">
                <a:lumMod val="50000"/>
              </a:schemeClr>
            </a:solidFill>
          </a:endParaRPr>
        </a:p>
      </dsp:txBody>
      <dsp:txXfrm>
        <a:off x="2417577" y="9800"/>
        <a:ext cx="724799" cy="4831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6BDF68-4060-4CBC-98CD-C06536A20941}">
      <dsp:nvSpPr>
        <dsp:cNvPr id="0" name=""/>
        <dsp:cNvSpPr/>
      </dsp:nvSpPr>
      <dsp:spPr>
        <a:xfrm>
          <a:off x="399" y="0"/>
          <a:ext cx="1209181" cy="483198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>
                  <a:lumMod val="50000"/>
                </a:schemeClr>
              </a:solidFill>
            </a:rPr>
            <a:t>Grundlagen</a:t>
          </a:r>
        </a:p>
      </dsp:txBody>
      <dsp:txXfrm>
        <a:off x="241998" y="0"/>
        <a:ext cx="725983" cy="483198"/>
      </dsp:txXfrm>
    </dsp:sp>
    <dsp:sp modelId="{036495EB-F3CD-4077-9288-3F93E5971B85}">
      <dsp:nvSpPr>
        <dsp:cNvPr id="0" name=""/>
        <dsp:cNvSpPr/>
      </dsp:nvSpPr>
      <dsp:spPr>
        <a:xfrm>
          <a:off x="1088781" y="9800"/>
          <a:ext cx="1207997" cy="483198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>
                  <a:lumMod val="50000"/>
                </a:schemeClr>
              </a:solidFill>
            </a:rPr>
            <a:t>Zyklus-konzepte</a:t>
          </a:r>
        </a:p>
      </dsp:txBody>
      <dsp:txXfrm>
        <a:off x="1330380" y="9800"/>
        <a:ext cx="724799" cy="483198"/>
      </dsp:txXfrm>
    </dsp:sp>
    <dsp:sp modelId="{FC737E6D-75F2-4F4F-A65F-3F0E7E604DEA}">
      <dsp:nvSpPr>
        <dsp:cNvPr id="0" name=""/>
        <dsp:cNvSpPr/>
      </dsp:nvSpPr>
      <dsp:spPr>
        <a:xfrm>
          <a:off x="2175978" y="9800"/>
          <a:ext cx="1207997" cy="483198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>
                  <a:lumMod val="50000"/>
                </a:schemeClr>
              </a:solidFill>
            </a:rPr>
            <a:t>Integration d. Konzepte</a:t>
          </a:r>
        </a:p>
      </dsp:txBody>
      <dsp:txXfrm>
        <a:off x="2417577" y="9800"/>
        <a:ext cx="724799" cy="4831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6495EB-F3CD-4077-9288-3F93E5971B85}">
      <dsp:nvSpPr>
        <dsp:cNvPr id="0" name=""/>
        <dsp:cNvSpPr/>
      </dsp:nvSpPr>
      <dsp:spPr>
        <a:xfrm>
          <a:off x="2144" y="0"/>
          <a:ext cx="4388198" cy="502799"/>
        </a:xfrm>
        <a:prstGeom prst="chevron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/>
              </a:solidFill>
            </a:rPr>
            <a:t>Literaturhinweise</a:t>
          </a:r>
        </a:p>
      </dsp:txBody>
      <dsp:txXfrm>
        <a:off x="253544" y="0"/>
        <a:ext cx="3885399" cy="5027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2961016" y="9426576"/>
            <a:ext cx="875645" cy="25638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910" tIns="44656" rIns="90910" bIns="44656">
            <a:spAutoFit/>
          </a:bodyPr>
          <a:lstStyle/>
          <a:p>
            <a:pPr algn="ctr" defTabSz="766695">
              <a:defRPr/>
            </a:pPr>
            <a:r>
              <a:rPr lang="de-DE" sz="1200" b="0" dirty="0">
                <a:solidFill>
                  <a:schemeClr val="tx1"/>
                </a:solidFill>
              </a:rPr>
              <a:t>Seite </a:t>
            </a:r>
            <a:fld id="{D3922621-56FE-4635-BF3F-5B853E3A7F45}" type="slidenum">
              <a:rPr lang="de-DE" sz="1200" b="0">
                <a:solidFill>
                  <a:schemeClr val="tx1"/>
                </a:solidFill>
              </a:rPr>
              <a:pPr algn="ctr" defTabSz="766695">
                <a:defRPr/>
              </a:pPr>
              <a:t>‹Nr.›</a:t>
            </a:fld>
            <a:endParaRPr lang="de-DE" sz="12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1624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719638"/>
            <a:ext cx="4987925" cy="4178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910" tIns="44656" rIns="90910" bIns="446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Hauptteiltext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307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5350" y="871538"/>
            <a:ext cx="5010150" cy="34686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2961016" y="9505950"/>
            <a:ext cx="875645" cy="25638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910" tIns="44656" rIns="90910" bIns="44656">
            <a:spAutoFit/>
          </a:bodyPr>
          <a:lstStyle/>
          <a:p>
            <a:pPr algn="ctr" defTabSz="766695">
              <a:defRPr/>
            </a:pPr>
            <a:r>
              <a:rPr lang="de-DE" sz="1200" b="0" dirty="0">
                <a:solidFill>
                  <a:schemeClr val="tx1"/>
                </a:solidFill>
              </a:rPr>
              <a:t>Seite </a:t>
            </a:r>
            <a:fld id="{1CA4CAD7-1BDF-4D83-A39C-C42EFF2D99CB}" type="slidenum">
              <a:rPr lang="de-DE" sz="1200" b="0">
                <a:solidFill>
                  <a:schemeClr val="tx1"/>
                </a:solidFill>
              </a:rPr>
              <a:pPr algn="ctr" defTabSz="766695">
                <a:defRPr/>
              </a:pPr>
              <a:t>‹Nr.›</a:t>
            </a:fld>
            <a:endParaRPr lang="de-DE" sz="12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8125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762000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762000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762000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762000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98525" y="871538"/>
            <a:ext cx="5005388" cy="34671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4" y="4721226"/>
            <a:ext cx="4984750" cy="4176713"/>
          </a:xfrm>
          <a:noFill/>
          <a:ln w="9525"/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28819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1405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0028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9759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70479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Ablauf: </a:t>
            </a:r>
          </a:p>
          <a:p>
            <a:endParaRPr lang="de-DE" dirty="0"/>
          </a:p>
          <a:p>
            <a:pPr marL="0" marR="0" lvl="0" indent="0" algn="l" defTabSz="7620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1. </a:t>
            </a:r>
            <a:r>
              <a:rPr lang="de-DE" b="1" i="0" dirty="0">
                <a:solidFill>
                  <a:srgbClr val="000000"/>
                </a:solidFill>
                <a:effectLst/>
                <a:latin typeface="-apple-system"/>
              </a:rPr>
              <a:t>Das verrückte Namensschild</a:t>
            </a:r>
          </a:p>
        </p:txBody>
      </p:sp>
    </p:spTree>
    <p:extLst>
      <p:ext uri="{BB962C8B-B14F-4D97-AF65-F5344CB8AC3E}">
        <p14:creationId xmlns:p14="http://schemas.microsoft.com/office/powerpoint/2010/main" val="3387249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9718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44535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634255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05433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Komplexe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264"/>
          <p:cNvSpPr txBox="1">
            <a:spLocks noChangeArrowheads="1"/>
          </p:cNvSpPr>
          <p:nvPr userDrawn="1"/>
        </p:nvSpPr>
        <p:spPr bwMode="auto">
          <a:xfrm>
            <a:off x="166654" y="6746680"/>
            <a:ext cx="1000132" cy="831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de-DE" sz="600" b="0" dirty="0">
                <a:solidFill>
                  <a:schemeClr val="bg1"/>
                </a:solidFill>
                <a:sym typeface="Symbol" pitchFamily="18" charset="2"/>
              </a:rPr>
              <a:t> Prof. Dr. Achim Dehnert</a:t>
            </a:r>
          </a:p>
        </p:txBody>
      </p:sp>
      <p:sp>
        <p:nvSpPr>
          <p:cNvPr id="17" name="Datumsplatzhalter 16"/>
          <p:cNvSpPr>
            <a:spLocks noGrp="1"/>
          </p:cNvSpPr>
          <p:nvPr>
            <p:ph type="dt" sz="half" idx="12"/>
          </p:nvPr>
        </p:nvSpPr>
        <p:spPr>
          <a:xfrm>
            <a:off x="63684" y="6453336"/>
            <a:ext cx="957238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9" name="Fußzeilenplatzhalter 18"/>
          <p:cNvSpPr>
            <a:spLocks noGrp="1"/>
          </p:cNvSpPr>
          <p:nvPr>
            <p:ph type="ftr" sz="quarter" idx="14"/>
          </p:nvPr>
        </p:nvSpPr>
        <p:spPr>
          <a:xfrm>
            <a:off x="1452538" y="6645275"/>
            <a:ext cx="6357982" cy="173186"/>
          </a:xfrm>
          <a:prstGeom prst="rect">
            <a:avLst/>
          </a:prstGeom>
        </p:spPr>
        <p:txBody>
          <a:bodyPr/>
          <a:lstStyle>
            <a:lvl1pPr algn="l">
              <a:defRPr sz="600"/>
            </a:lvl1pPr>
          </a:lstStyle>
          <a:p>
            <a:r>
              <a:rPr lang="de-DE"/>
              <a:t>Der agile Strategieprozess</a:t>
            </a:r>
            <a:endParaRPr lang="de-DE" dirty="0"/>
          </a:p>
        </p:txBody>
      </p:sp>
      <p:sp>
        <p:nvSpPr>
          <p:cNvPr id="24" name="Titel 1"/>
          <p:cNvSpPr>
            <a:spLocks noGrp="1"/>
          </p:cNvSpPr>
          <p:nvPr>
            <p:ph type="title"/>
          </p:nvPr>
        </p:nvSpPr>
        <p:spPr>
          <a:xfrm>
            <a:off x="1381100" y="321447"/>
            <a:ext cx="8382000" cy="24765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0" name="Inhaltsplatzhalter 2"/>
          <p:cNvSpPr>
            <a:spLocks noGrp="1"/>
          </p:cNvSpPr>
          <p:nvPr>
            <p:ph sz="half" idx="11"/>
          </p:nvPr>
        </p:nvSpPr>
        <p:spPr>
          <a:xfrm>
            <a:off x="943327" y="1000108"/>
            <a:ext cx="8867457" cy="1067985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</p:spPr>
        <p:txBody>
          <a:bodyPr>
            <a:normAutofit/>
          </a:bodyPr>
          <a:lstStyle>
            <a:lvl1pPr marL="84138" indent="0">
              <a:lnSpc>
                <a:spcPct val="100000"/>
              </a:lnSpc>
              <a:spcBef>
                <a:spcPts val="600"/>
              </a:spcBef>
              <a:buNone/>
              <a:defRPr sz="1600" baseline="0"/>
            </a:lvl1pPr>
            <a:lvl2pPr marL="266700" indent="-19050">
              <a:lnSpc>
                <a:spcPct val="100000"/>
              </a:lnSpc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31" name="Inhaltsplatzhalter 2"/>
          <p:cNvSpPr>
            <a:spLocks noGrp="1"/>
          </p:cNvSpPr>
          <p:nvPr>
            <p:ph sz="half" idx="15"/>
          </p:nvPr>
        </p:nvSpPr>
        <p:spPr>
          <a:xfrm>
            <a:off x="1020922" y="2500306"/>
            <a:ext cx="8718424" cy="3643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50000"/>
                  </a:schemeClr>
                </a:solidFill>
              </a:defRPr>
            </a:lvl1pPr>
            <a:lvl2pPr marL="365125" indent="0">
              <a:defRPr sz="1600">
                <a:solidFill>
                  <a:schemeClr val="tx1">
                    <a:lumMod val="50000"/>
                  </a:schemeClr>
                </a:solidFill>
              </a:defRPr>
            </a:lvl2pPr>
            <a:lvl3pPr marL="801688" indent="0">
              <a:defRPr sz="1200"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 sz="1000"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59" name="Rechteck 58">
            <a:hlinkClick r:id="" action="ppaction://noaction"/>
          </p:cNvPr>
          <p:cNvSpPr/>
          <p:nvPr userDrawn="1"/>
        </p:nvSpPr>
        <p:spPr bwMode="auto">
          <a:xfrm>
            <a:off x="0" y="2428868"/>
            <a:ext cx="1238224" cy="332399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0" name="Rechteck 59">
            <a:hlinkClick r:id="" action="ppaction://noaction"/>
          </p:cNvPr>
          <p:cNvSpPr/>
          <p:nvPr userDrawn="1"/>
        </p:nvSpPr>
        <p:spPr bwMode="auto">
          <a:xfrm>
            <a:off x="0" y="4214818"/>
            <a:ext cx="1238224" cy="443198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2" name="Flussdiagramm: Prozess 61">
            <a:hlinkClick r:id="" action="ppaction://noaction"/>
          </p:cNvPr>
          <p:cNvSpPr/>
          <p:nvPr userDrawn="1"/>
        </p:nvSpPr>
        <p:spPr bwMode="auto">
          <a:xfrm>
            <a:off x="56456" y="1836873"/>
            <a:ext cx="1095348" cy="142876"/>
          </a:xfrm>
          <a:prstGeom prst="flowChartProcess">
            <a:avLst/>
          </a:prstGeom>
          <a:solidFill>
            <a:schemeClr val="bg1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4" name="Flussdiagramm: Prozess 63">
            <a:hlinkClick r:id="" action="ppaction://noaction"/>
          </p:cNvPr>
          <p:cNvSpPr/>
          <p:nvPr userDrawn="1"/>
        </p:nvSpPr>
        <p:spPr bwMode="auto">
          <a:xfrm>
            <a:off x="14905" y="3558254"/>
            <a:ext cx="1095348" cy="142876"/>
          </a:xfrm>
          <a:prstGeom prst="flowChartProcess">
            <a:avLst/>
          </a:prstGeom>
          <a:solidFill>
            <a:schemeClr val="bg1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5" name="Flussdiagramm: Prozess 64">
            <a:hlinkClick r:id="" action="ppaction://noaction"/>
          </p:cNvPr>
          <p:cNvSpPr/>
          <p:nvPr userDrawn="1"/>
        </p:nvSpPr>
        <p:spPr bwMode="auto">
          <a:xfrm>
            <a:off x="52831" y="4414399"/>
            <a:ext cx="1095348" cy="142876"/>
          </a:xfrm>
          <a:prstGeom prst="flowChartProcess">
            <a:avLst/>
          </a:prstGeom>
          <a:solidFill>
            <a:schemeClr val="bg1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6" name="Flussdiagramm: Prozess 65">
            <a:hlinkClick r:id="" action="ppaction://noaction"/>
          </p:cNvPr>
          <p:cNvSpPr/>
          <p:nvPr userDrawn="1"/>
        </p:nvSpPr>
        <p:spPr bwMode="auto">
          <a:xfrm>
            <a:off x="31705" y="5268955"/>
            <a:ext cx="1095348" cy="142876"/>
          </a:xfrm>
          <a:prstGeom prst="flowChartProcess">
            <a:avLst/>
          </a:prstGeom>
          <a:solidFill>
            <a:schemeClr val="bg1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7" name="Flussdiagramm: Prozess 66">
            <a:hlinkClick r:id="" action="ppaction://noaction"/>
          </p:cNvPr>
          <p:cNvSpPr/>
          <p:nvPr userDrawn="1"/>
        </p:nvSpPr>
        <p:spPr bwMode="auto">
          <a:xfrm>
            <a:off x="35598" y="1108842"/>
            <a:ext cx="1095348" cy="142876"/>
          </a:xfrm>
          <a:prstGeom prst="flowChartProcess">
            <a:avLst/>
          </a:prstGeom>
          <a:solidFill>
            <a:schemeClr val="bg1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8" name="Flussdiagramm: Prozess 67">
            <a:hlinkClick r:id="" action="ppaction://noaction"/>
          </p:cNvPr>
          <p:cNvSpPr/>
          <p:nvPr userDrawn="1"/>
        </p:nvSpPr>
        <p:spPr bwMode="auto">
          <a:xfrm>
            <a:off x="41228" y="1116793"/>
            <a:ext cx="1095348" cy="142876"/>
          </a:xfrm>
          <a:prstGeom prst="flowChartProcess">
            <a:avLst/>
          </a:prstGeom>
          <a:solidFill>
            <a:schemeClr val="bg1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1" name="Rectangle 7"/>
          <p:cNvSpPr>
            <a:spLocks noChangeArrowheads="1"/>
          </p:cNvSpPr>
          <p:nvPr userDrawn="1"/>
        </p:nvSpPr>
        <p:spPr bwMode="auto">
          <a:xfrm>
            <a:off x="8977313" y="6645275"/>
            <a:ext cx="5778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r" defTabSz="655638">
              <a:lnSpc>
                <a:spcPct val="90000"/>
              </a:lnSpc>
              <a:spcBef>
                <a:spcPct val="0"/>
              </a:spcBef>
            </a:pPr>
            <a:r>
              <a:rPr lang="de-DE" sz="1000" dirty="0"/>
              <a:t>Seite </a:t>
            </a:r>
            <a:fld id="{935806C4-5B1C-46BA-90D6-BDA792787B32}" type="slidenum">
              <a:rPr lang="de-DE" sz="1000"/>
              <a:pPr algn="r" defTabSz="655638">
                <a:lnSpc>
                  <a:spcPct val="90000"/>
                </a:lnSpc>
                <a:spcBef>
                  <a:spcPct val="0"/>
                </a:spcBef>
              </a:pPr>
              <a:t>‹Nr.›</a:t>
            </a:fld>
            <a:endParaRPr lang="de-DE" sz="1000" dirty="0"/>
          </a:p>
        </p:txBody>
      </p:sp>
      <p:sp>
        <p:nvSpPr>
          <p:cNvPr id="28" name="Datumsplatzhalter 16"/>
          <p:cNvSpPr txBox="1">
            <a:spLocks/>
          </p:cNvSpPr>
          <p:nvPr userDrawn="1"/>
        </p:nvSpPr>
        <p:spPr>
          <a:xfrm>
            <a:off x="95216" y="6500834"/>
            <a:ext cx="1103102" cy="285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8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8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8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8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800" b="1" kern="1200">
                <a:solidFill>
                  <a:srgbClr val="000000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fld id="{A4E63739-8DD1-472C-91E4-41A2EEA20314}" type="datetime1">
              <a:rPr lang="de-DE" smtClean="0"/>
              <a:pPr/>
              <a:t>03.11.2025</a:t>
            </a:fld>
            <a:endParaRPr lang="de-DE" dirty="0"/>
          </a:p>
        </p:txBody>
      </p:sp>
      <p:sp>
        <p:nvSpPr>
          <p:cNvPr id="32" name="Text Box 264"/>
          <p:cNvSpPr txBox="1">
            <a:spLocks noChangeArrowheads="1"/>
          </p:cNvSpPr>
          <p:nvPr userDrawn="1"/>
        </p:nvSpPr>
        <p:spPr bwMode="auto">
          <a:xfrm>
            <a:off x="95216" y="6713581"/>
            <a:ext cx="1000132" cy="831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de-DE" sz="600" b="0" dirty="0">
                <a:solidFill>
                  <a:schemeClr val="bg1"/>
                </a:solidFill>
                <a:sym typeface="Symbol" pitchFamily="18" charset="2"/>
              </a:rPr>
              <a:t> Prof. Dr. Achim Dehnert</a:t>
            </a:r>
          </a:p>
        </p:txBody>
      </p:sp>
      <p:sp>
        <p:nvSpPr>
          <p:cNvPr id="25" name="Rectangle 4"/>
          <p:cNvSpPr>
            <a:spLocks noChangeArrowheads="1"/>
          </p:cNvSpPr>
          <p:nvPr userDrawn="1"/>
        </p:nvSpPr>
        <p:spPr bwMode="auto">
          <a:xfrm>
            <a:off x="0" y="1"/>
            <a:ext cx="776536" cy="6858000"/>
          </a:xfrm>
          <a:prstGeom prst="rect">
            <a:avLst/>
          </a:prstGeom>
          <a:solidFill>
            <a:srgbClr val="919191"/>
          </a:solidFill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indent="-1588" algn="l"/>
            <a:endParaRPr lang="de-DE" sz="1800" b="0" dirty="0">
              <a:solidFill>
                <a:schemeClr val="tx1"/>
              </a:solidFill>
            </a:endParaRPr>
          </a:p>
        </p:txBody>
      </p:sp>
      <p:sp>
        <p:nvSpPr>
          <p:cNvPr id="23" name="Textfeld 22"/>
          <p:cNvSpPr txBox="1"/>
          <p:nvPr userDrawn="1"/>
        </p:nvSpPr>
        <p:spPr>
          <a:xfrm>
            <a:off x="0" y="962810"/>
            <a:ext cx="776536" cy="1352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indent="-88900" algn="l" defTabSz="360000">
              <a:buFont typeface="Arial" panose="020B0604020202020204" pitchFamily="34" charset="0"/>
              <a:buChar char="•"/>
            </a:pPr>
            <a:r>
              <a:rPr lang="en-US" sz="700" dirty="0" err="1">
                <a:solidFill>
                  <a:schemeClr val="bg1"/>
                </a:solidFill>
              </a:rPr>
              <a:t>Grundlagen</a:t>
            </a:r>
            <a:endParaRPr lang="en-US" sz="700" dirty="0">
              <a:solidFill>
                <a:schemeClr val="bg1"/>
              </a:solidFill>
            </a:endParaRPr>
          </a:p>
          <a:p>
            <a:pPr marL="88900" indent="-88900" algn="l" defTabSz="360000">
              <a:buFont typeface="Arial" panose="020B0604020202020204" pitchFamily="34" charset="0"/>
              <a:buChar char="•"/>
            </a:pPr>
            <a:endParaRPr lang="de-DE" sz="700" dirty="0">
              <a:solidFill>
                <a:schemeClr val="bg1"/>
              </a:solidFill>
            </a:endParaRPr>
          </a:p>
          <a:p>
            <a:pPr marL="88900" indent="-88900" algn="l" defTabSz="360000">
              <a:buFont typeface="Arial" panose="020B0604020202020204" pitchFamily="34" charset="0"/>
              <a:buChar char="•"/>
            </a:pPr>
            <a:endParaRPr lang="en-US" sz="700" dirty="0">
              <a:solidFill>
                <a:schemeClr val="bg1"/>
              </a:solidFill>
            </a:endParaRPr>
          </a:p>
          <a:p>
            <a:pPr marL="88900" indent="-88900" algn="l" defTabSz="360000">
              <a:buFont typeface="Arial" panose="020B0604020202020204" pitchFamily="34" charset="0"/>
              <a:buChar char="•"/>
            </a:pPr>
            <a:r>
              <a:rPr lang="en-US" sz="700" dirty="0" err="1">
                <a:solidFill>
                  <a:schemeClr val="bg1"/>
                </a:solidFill>
              </a:rPr>
              <a:t>Persönlich-keit</a:t>
            </a:r>
            <a:endParaRPr lang="en-US" sz="700" dirty="0">
              <a:solidFill>
                <a:schemeClr val="bg1"/>
              </a:solidFill>
            </a:endParaRPr>
          </a:p>
          <a:p>
            <a:pPr marL="88900" indent="-88900" algn="l" defTabSz="360000">
              <a:buFont typeface="Arial" panose="020B0604020202020204" pitchFamily="34" charset="0"/>
              <a:buChar char="•"/>
            </a:pPr>
            <a:endParaRPr lang="de-DE" sz="700" dirty="0">
              <a:solidFill>
                <a:schemeClr val="bg1"/>
              </a:solidFill>
            </a:endParaRPr>
          </a:p>
          <a:p>
            <a:pPr marL="88900" indent="-88900" algn="l" defTabSz="360000">
              <a:buFont typeface="Arial" panose="020B0604020202020204" pitchFamily="34" charset="0"/>
              <a:buChar char="•"/>
            </a:pPr>
            <a:endParaRPr lang="de-DE" sz="700" dirty="0">
              <a:solidFill>
                <a:schemeClr val="bg1"/>
              </a:solidFill>
            </a:endParaRPr>
          </a:p>
          <a:p>
            <a:pPr marL="88900" indent="-88900" algn="l" defTabSz="360000">
              <a:buFont typeface="Arial" panose="020B0604020202020204" pitchFamily="34" charset="0"/>
              <a:buChar char="•"/>
            </a:pPr>
            <a:endParaRPr lang="en-US" sz="700" dirty="0">
              <a:solidFill>
                <a:schemeClr val="bg1"/>
              </a:solidFill>
            </a:endParaRPr>
          </a:p>
          <a:p>
            <a:pPr marL="88900" indent="-88900" algn="l" defTabSz="360000">
              <a:buFont typeface="Arial" panose="020B0604020202020204" pitchFamily="34" charset="0"/>
              <a:buChar char="•"/>
            </a:pPr>
            <a:r>
              <a:rPr lang="en-US" sz="700" i="1" dirty="0">
                <a:solidFill>
                  <a:schemeClr val="bg1"/>
                </a:solidFill>
              </a:rPr>
              <a:t>Self-Leadership</a:t>
            </a:r>
          </a:p>
          <a:p>
            <a:pPr algn="l" defTabSz="360000">
              <a:buFont typeface="Arial" pitchFamily="34" charset="0"/>
              <a:buNone/>
            </a:pPr>
            <a:endParaRPr lang="de-DE" sz="700" b="0" dirty="0">
              <a:solidFill>
                <a:schemeClr val="bg1"/>
              </a:solidFill>
            </a:endParaRPr>
          </a:p>
          <a:p>
            <a:pPr marL="182563" lvl="1" indent="-95250" algn="l" defTabSz="360000">
              <a:buFont typeface="Arial" pitchFamily="34" charset="0"/>
              <a:buChar char="•"/>
            </a:pPr>
            <a:endParaRPr lang="de-DE" sz="700" b="0" dirty="0">
              <a:solidFill>
                <a:schemeClr val="bg1"/>
              </a:solidFill>
            </a:endParaRPr>
          </a:p>
          <a:p>
            <a:pPr marL="182563" lvl="1" indent="-95250" algn="l" defTabSz="360000">
              <a:buFont typeface="Arial" pitchFamily="34" charset="0"/>
              <a:buChar char="•"/>
            </a:pPr>
            <a:endParaRPr lang="de-DE" sz="7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484544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 2 u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2"/>
          <p:cNvSpPr>
            <a:spLocks noGrp="1"/>
          </p:cNvSpPr>
          <p:nvPr>
            <p:ph sz="half" idx="11"/>
          </p:nvPr>
        </p:nvSpPr>
        <p:spPr>
          <a:xfrm>
            <a:off x="1309662" y="1000108"/>
            <a:ext cx="8501122" cy="1015663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20" name="Text Box 264"/>
          <p:cNvSpPr txBox="1">
            <a:spLocks noChangeArrowheads="1"/>
          </p:cNvSpPr>
          <p:nvPr userDrawn="1"/>
        </p:nvSpPr>
        <p:spPr bwMode="auto">
          <a:xfrm>
            <a:off x="166654" y="6746680"/>
            <a:ext cx="1000132" cy="831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de-DE" sz="600" b="0" dirty="0">
                <a:solidFill>
                  <a:schemeClr val="bg1"/>
                </a:solidFill>
                <a:sym typeface="Symbol" pitchFamily="18" charset="2"/>
              </a:rPr>
              <a:t> Prof. Dr. Achim Dehnert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sz="half" idx="15"/>
          </p:nvPr>
        </p:nvSpPr>
        <p:spPr>
          <a:xfrm>
            <a:off x="1309662" y="2786058"/>
            <a:ext cx="4143404" cy="3643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 sz="1000"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sz="half" idx="16"/>
          </p:nvPr>
        </p:nvSpPr>
        <p:spPr>
          <a:xfrm>
            <a:off x="5667380" y="2786058"/>
            <a:ext cx="4143404" cy="3643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50000"/>
                  </a:schemeClr>
                </a:solidFill>
              </a:defRPr>
            </a:lvl3pPr>
            <a:lvl4pPr>
              <a:defRPr sz="1000">
                <a:solidFill>
                  <a:schemeClr val="tx1">
                    <a:lumMod val="50000"/>
                  </a:schemeClr>
                </a:solidFill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18"/>
          </p:nvPr>
        </p:nvSpPr>
        <p:spPr>
          <a:xfrm>
            <a:off x="7499384" y="6500834"/>
            <a:ext cx="2311400" cy="222249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/>
              <a:t>S. </a:t>
            </a:r>
            <a:fld id="{1861E498-8611-4836-9623-3745B585B070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9" name="Fußzeilenplatzhalter 18"/>
          <p:cNvSpPr>
            <a:spLocks noGrp="1"/>
          </p:cNvSpPr>
          <p:nvPr>
            <p:ph type="ftr" sz="quarter" idx="14"/>
          </p:nvPr>
        </p:nvSpPr>
        <p:spPr>
          <a:xfrm>
            <a:off x="1452538" y="6645275"/>
            <a:ext cx="6357982" cy="173186"/>
          </a:xfrm>
          <a:prstGeom prst="rect">
            <a:avLst/>
          </a:prstGeom>
        </p:spPr>
        <p:txBody>
          <a:bodyPr/>
          <a:lstStyle>
            <a:lvl1pPr algn="l">
              <a:defRPr sz="600"/>
            </a:lvl1pPr>
          </a:lstStyle>
          <a:p>
            <a:r>
              <a:rPr lang="de-DE"/>
              <a:t>Der agile Strategieprozess</a:t>
            </a:r>
            <a:endParaRPr lang="de-DE" dirty="0"/>
          </a:p>
        </p:txBody>
      </p:sp>
      <p:sp>
        <p:nvSpPr>
          <p:cNvPr id="25" name="Datumsplatzhalter 16"/>
          <p:cNvSpPr>
            <a:spLocks noGrp="1"/>
          </p:cNvSpPr>
          <p:nvPr>
            <p:ph type="dt" sz="half" idx="12"/>
          </p:nvPr>
        </p:nvSpPr>
        <p:spPr>
          <a:xfrm>
            <a:off x="95216" y="6500834"/>
            <a:ext cx="1103102" cy="285752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A4E63739-8DD1-472C-91E4-41A2EEA20314}" type="datetime1">
              <a:rPr lang="de-DE" smtClean="0"/>
              <a:t>03.11.2025</a:t>
            </a:fld>
            <a:endParaRPr lang="de-DE" dirty="0"/>
          </a:p>
        </p:txBody>
      </p:sp>
      <p:sp>
        <p:nvSpPr>
          <p:cNvPr id="15" name="Rectangle 4"/>
          <p:cNvSpPr>
            <a:spLocks noChangeArrowheads="1"/>
          </p:cNvSpPr>
          <p:nvPr userDrawn="1"/>
        </p:nvSpPr>
        <p:spPr bwMode="auto">
          <a:xfrm>
            <a:off x="0" y="0"/>
            <a:ext cx="776536" cy="6858000"/>
          </a:xfrm>
          <a:prstGeom prst="rect">
            <a:avLst/>
          </a:prstGeom>
          <a:solidFill>
            <a:srgbClr val="919191"/>
          </a:solidFill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marL="0" indent="-1588" algn="l"/>
            <a:endParaRPr lang="de-DE" sz="1800" b="0" dirty="0">
              <a:solidFill>
                <a:schemeClr val="tx1"/>
              </a:solidFill>
            </a:endParaRPr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792" y="116632"/>
            <a:ext cx="776536" cy="161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feld 16"/>
          <p:cNvSpPr txBox="1"/>
          <p:nvPr userDrawn="1"/>
        </p:nvSpPr>
        <p:spPr>
          <a:xfrm>
            <a:off x="0" y="962810"/>
            <a:ext cx="776536" cy="1352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indent="-88900" algn="l" defTabSz="360000">
              <a:buFont typeface="Arial" panose="020B0604020202020204" pitchFamily="34" charset="0"/>
              <a:buChar char="•"/>
            </a:pPr>
            <a:r>
              <a:rPr lang="en-US" sz="700" dirty="0" err="1">
                <a:solidFill>
                  <a:schemeClr val="bg1"/>
                </a:solidFill>
              </a:rPr>
              <a:t>Grundlagen</a:t>
            </a:r>
            <a:endParaRPr lang="en-US" sz="700" dirty="0">
              <a:solidFill>
                <a:schemeClr val="bg1"/>
              </a:solidFill>
            </a:endParaRPr>
          </a:p>
          <a:p>
            <a:pPr marL="88900" indent="-88900" algn="l" defTabSz="360000">
              <a:buFont typeface="Arial" panose="020B0604020202020204" pitchFamily="34" charset="0"/>
              <a:buChar char="•"/>
            </a:pPr>
            <a:endParaRPr lang="de-DE" sz="700" dirty="0">
              <a:solidFill>
                <a:schemeClr val="bg1"/>
              </a:solidFill>
            </a:endParaRPr>
          </a:p>
          <a:p>
            <a:pPr marL="88900" indent="-88900" algn="l" defTabSz="360000">
              <a:buFont typeface="Arial" panose="020B0604020202020204" pitchFamily="34" charset="0"/>
              <a:buChar char="•"/>
            </a:pPr>
            <a:endParaRPr lang="en-US" sz="700" dirty="0">
              <a:solidFill>
                <a:schemeClr val="bg1"/>
              </a:solidFill>
            </a:endParaRPr>
          </a:p>
          <a:p>
            <a:pPr marL="88900" indent="-88900" algn="l" defTabSz="360000">
              <a:buFont typeface="Arial" panose="020B0604020202020204" pitchFamily="34" charset="0"/>
              <a:buChar char="•"/>
            </a:pPr>
            <a:r>
              <a:rPr lang="en-US" sz="700" dirty="0" err="1">
                <a:solidFill>
                  <a:schemeClr val="bg1"/>
                </a:solidFill>
              </a:rPr>
              <a:t>Persönlich-keit</a:t>
            </a:r>
            <a:endParaRPr lang="en-US" sz="700" dirty="0">
              <a:solidFill>
                <a:schemeClr val="bg1"/>
              </a:solidFill>
            </a:endParaRPr>
          </a:p>
          <a:p>
            <a:pPr marL="88900" indent="-88900" algn="l" defTabSz="360000">
              <a:buFont typeface="Arial" panose="020B0604020202020204" pitchFamily="34" charset="0"/>
              <a:buChar char="•"/>
            </a:pPr>
            <a:endParaRPr lang="de-DE" sz="700" dirty="0">
              <a:solidFill>
                <a:schemeClr val="bg1"/>
              </a:solidFill>
            </a:endParaRPr>
          </a:p>
          <a:p>
            <a:pPr marL="88900" indent="-88900" algn="l" defTabSz="360000">
              <a:buFont typeface="Arial" panose="020B0604020202020204" pitchFamily="34" charset="0"/>
              <a:buChar char="•"/>
            </a:pPr>
            <a:endParaRPr lang="de-DE" sz="700" dirty="0">
              <a:solidFill>
                <a:schemeClr val="bg1"/>
              </a:solidFill>
            </a:endParaRPr>
          </a:p>
          <a:p>
            <a:pPr marL="88900" indent="-88900" algn="l" defTabSz="360000">
              <a:buFont typeface="Arial" panose="020B0604020202020204" pitchFamily="34" charset="0"/>
              <a:buChar char="•"/>
            </a:pPr>
            <a:endParaRPr lang="en-US" sz="700" dirty="0">
              <a:solidFill>
                <a:schemeClr val="bg1"/>
              </a:solidFill>
            </a:endParaRPr>
          </a:p>
          <a:p>
            <a:pPr marL="88900" indent="-88900" algn="l" defTabSz="360000">
              <a:buFont typeface="Arial" panose="020B0604020202020204" pitchFamily="34" charset="0"/>
              <a:buChar char="•"/>
            </a:pPr>
            <a:r>
              <a:rPr lang="en-US" sz="700" i="1" dirty="0">
                <a:solidFill>
                  <a:schemeClr val="bg1"/>
                </a:solidFill>
              </a:rPr>
              <a:t>Self-Leadership</a:t>
            </a:r>
          </a:p>
          <a:p>
            <a:pPr algn="l" defTabSz="360000">
              <a:buFont typeface="Arial" pitchFamily="34" charset="0"/>
              <a:buNone/>
            </a:pPr>
            <a:endParaRPr lang="de-DE" sz="700" b="0" dirty="0">
              <a:solidFill>
                <a:schemeClr val="bg1"/>
              </a:solidFill>
            </a:endParaRPr>
          </a:p>
          <a:p>
            <a:pPr marL="182563" lvl="1" indent="-95250" algn="l" defTabSz="360000">
              <a:buFont typeface="Arial" pitchFamily="34" charset="0"/>
              <a:buChar char="•"/>
            </a:pPr>
            <a:endParaRPr lang="de-DE" sz="700" b="0" dirty="0">
              <a:solidFill>
                <a:schemeClr val="bg1"/>
              </a:solidFill>
            </a:endParaRPr>
          </a:p>
          <a:p>
            <a:pPr marL="182563" lvl="1" indent="-95250" algn="l" defTabSz="360000">
              <a:buFont typeface="Arial" pitchFamily="34" charset="0"/>
              <a:buChar char="•"/>
            </a:pPr>
            <a:endParaRPr lang="de-DE" sz="7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idx="10"/>
          </p:nvPr>
        </p:nvSpPr>
        <p:spPr>
          <a:xfrm>
            <a:off x="350838" y="6627814"/>
            <a:ext cx="7247202" cy="23018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87367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98"/>
          <p:cNvGrpSpPr>
            <a:grpSpLocks/>
          </p:cNvGrpSpPr>
          <p:nvPr/>
        </p:nvGrpSpPr>
        <p:grpSpPr bwMode="auto">
          <a:xfrm>
            <a:off x="980681" y="887603"/>
            <a:ext cx="8547100" cy="5784850"/>
            <a:chOff x="616" y="576"/>
            <a:chExt cx="5384" cy="3644"/>
          </a:xfrm>
        </p:grpSpPr>
        <p:sp>
          <p:nvSpPr>
            <p:cNvPr id="1223" name="Line 199"/>
            <p:cNvSpPr>
              <a:spLocks noChangeShapeType="1"/>
            </p:cNvSpPr>
            <p:nvPr/>
          </p:nvSpPr>
          <p:spPr bwMode="auto">
            <a:xfrm flipH="1">
              <a:off x="616" y="576"/>
              <a:ext cx="5384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24" name="Line 200"/>
            <p:cNvSpPr>
              <a:spLocks noChangeShapeType="1"/>
            </p:cNvSpPr>
            <p:nvPr/>
          </p:nvSpPr>
          <p:spPr bwMode="auto">
            <a:xfrm flipH="1">
              <a:off x="616" y="960"/>
              <a:ext cx="5384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25" name="Line 201"/>
            <p:cNvSpPr>
              <a:spLocks noChangeShapeType="1"/>
            </p:cNvSpPr>
            <p:nvPr/>
          </p:nvSpPr>
          <p:spPr bwMode="auto">
            <a:xfrm flipH="1">
              <a:off x="616" y="1344"/>
              <a:ext cx="5384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26" name="Line 202"/>
            <p:cNvSpPr>
              <a:spLocks noChangeShapeType="1"/>
            </p:cNvSpPr>
            <p:nvPr/>
          </p:nvSpPr>
          <p:spPr bwMode="auto">
            <a:xfrm flipH="1">
              <a:off x="616" y="1728"/>
              <a:ext cx="5384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27" name="Line 203"/>
            <p:cNvSpPr>
              <a:spLocks noChangeShapeType="1"/>
            </p:cNvSpPr>
            <p:nvPr/>
          </p:nvSpPr>
          <p:spPr bwMode="auto">
            <a:xfrm flipH="1">
              <a:off x="616" y="2112"/>
              <a:ext cx="5384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28" name="Line 204"/>
            <p:cNvSpPr>
              <a:spLocks noChangeShapeType="1"/>
            </p:cNvSpPr>
            <p:nvPr/>
          </p:nvSpPr>
          <p:spPr bwMode="auto">
            <a:xfrm flipH="1">
              <a:off x="616" y="2496"/>
              <a:ext cx="5384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29" name="Line 205"/>
            <p:cNvSpPr>
              <a:spLocks noChangeShapeType="1"/>
            </p:cNvSpPr>
            <p:nvPr/>
          </p:nvSpPr>
          <p:spPr bwMode="auto">
            <a:xfrm flipH="1">
              <a:off x="616" y="2880"/>
              <a:ext cx="5384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30" name="Line 206"/>
            <p:cNvSpPr>
              <a:spLocks noChangeShapeType="1"/>
            </p:cNvSpPr>
            <p:nvPr/>
          </p:nvSpPr>
          <p:spPr bwMode="auto">
            <a:xfrm flipH="1">
              <a:off x="616" y="3264"/>
              <a:ext cx="5384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31" name="Line 207"/>
            <p:cNvSpPr>
              <a:spLocks noChangeShapeType="1"/>
            </p:cNvSpPr>
            <p:nvPr/>
          </p:nvSpPr>
          <p:spPr bwMode="auto">
            <a:xfrm flipH="1">
              <a:off x="616" y="3648"/>
              <a:ext cx="5384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32" name="Line 208"/>
            <p:cNvSpPr>
              <a:spLocks noChangeShapeType="1"/>
            </p:cNvSpPr>
            <p:nvPr/>
          </p:nvSpPr>
          <p:spPr bwMode="auto">
            <a:xfrm flipH="1">
              <a:off x="616" y="4032"/>
              <a:ext cx="5384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33" name="Line 209"/>
            <p:cNvSpPr>
              <a:spLocks noChangeShapeType="1"/>
            </p:cNvSpPr>
            <p:nvPr/>
          </p:nvSpPr>
          <p:spPr bwMode="auto">
            <a:xfrm>
              <a:off x="3308" y="580"/>
              <a:ext cx="0" cy="364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34" name="Rectangle 210"/>
            <p:cNvSpPr>
              <a:spLocks noChangeArrowheads="1"/>
            </p:cNvSpPr>
            <p:nvPr/>
          </p:nvSpPr>
          <p:spPr bwMode="auto">
            <a:xfrm>
              <a:off x="672" y="1152"/>
              <a:ext cx="5280" cy="278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35" name="Line 211"/>
            <p:cNvSpPr>
              <a:spLocks noChangeShapeType="1"/>
            </p:cNvSpPr>
            <p:nvPr/>
          </p:nvSpPr>
          <p:spPr bwMode="auto">
            <a:xfrm flipH="1">
              <a:off x="3312" y="1152"/>
              <a:ext cx="0" cy="2784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36" name="Line 212"/>
            <p:cNvSpPr>
              <a:spLocks noChangeShapeType="1"/>
            </p:cNvSpPr>
            <p:nvPr/>
          </p:nvSpPr>
          <p:spPr bwMode="auto">
            <a:xfrm>
              <a:off x="1004" y="580"/>
              <a:ext cx="0" cy="364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37" name="Line 213"/>
            <p:cNvSpPr>
              <a:spLocks noChangeShapeType="1"/>
            </p:cNvSpPr>
            <p:nvPr/>
          </p:nvSpPr>
          <p:spPr bwMode="auto">
            <a:xfrm>
              <a:off x="1388" y="580"/>
              <a:ext cx="0" cy="364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38" name="Line 214"/>
            <p:cNvSpPr>
              <a:spLocks noChangeShapeType="1"/>
            </p:cNvSpPr>
            <p:nvPr/>
          </p:nvSpPr>
          <p:spPr bwMode="auto">
            <a:xfrm>
              <a:off x="1772" y="580"/>
              <a:ext cx="0" cy="364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39" name="Line 215"/>
            <p:cNvSpPr>
              <a:spLocks noChangeShapeType="1"/>
            </p:cNvSpPr>
            <p:nvPr/>
          </p:nvSpPr>
          <p:spPr bwMode="auto">
            <a:xfrm>
              <a:off x="2156" y="580"/>
              <a:ext cx="0" cy="364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40" name="Line 216"/>
            <p:cNvSpPr>
              <a:spLocks noChangeShapeType="1"/>
            </p:cNvSpPr>
            <p:nvPr/>
          </p:nvSpPr>
          <p:spPr bwMode="auto">
            <a:xfrm>
              <a:off x="2540" y="580"/>
              <a:ext cx="0" cy="364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41" name="Line 217"/>
            <p:cNvSpPr>
              <a:spLocks noChangeShapeType="1"/>
            </p:cNvSpPr>
            <p:nvPr/>
          </p:nvSpPr>
          <p:spPr bwMode="auto">
            <a:xfrm>
              <a:off x="2924" y="580"/>
              <a:ext cx="0" cy="364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42" name="Line 218"/>
            <p:cNvSpPr>
              <a:spLocks noChangeShapeType="1"/>
            </p:cNvSpPr>
            <p:nvPr/>
          </p:nvSpPr>
          <p:spPr bwMode="auto">
            <a:xfrm>
              <a:off x="3692" y="580"/>
              <a:ext cx="0" cy="364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43" name="Line 219"/>
            <p:cNvSpPr>
              <a:spLocks noChangeShapeType="1"/>
            </p:cNvSpPr>
            <p:nvPr/>
          </p:nvSpPr>
          <p:spPr bwMode="auto">
            <a:xfrm>
              <a:off x="4076" y="580"/>
              <a:ext cx="0" cy="364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44" name="Line 220"/>
            <p:cNvSpPr>
              <a:spLocks noChangeShapeType="1"/>
            </p:cNvSpPr>
            <p:nvPr/>
          </p:nvSpPr>
          <p:spPr bwMode="auto">
            <a:xfrm>
              <a:off x="4460" y="580"/>
              <a:ext cx="0" cy="364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45" name="Line 221"/>
            <p:cNvSpPr>
              <a:spLocks noChangeShapeType="1"/>
            </p:cNvSpPr>
            <p:nvPr/>
          </p:nvSpPr>
          <p:spPr bwMode="auto">
            <a:xfrm>
              <a:off x="4844" y="580"/>
              <a:ext cx="0" cy="364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46" name="Line 222"/>
            <p:cNvSpPr>
              <a:spLocks noChangeShapeType="1"/>
            </p:cNvSpPr>
            <p:nvPr/>
          </p:nvSpPr>
          <p:spPr bwMode="auto">
            <a:xfrm>
              <a:off x="5228" y="580"/>
              <a:ext cx="0" cy="364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47" name="Line 223"/>
            <p:cNvSpPr>
              <a:spLocks noChangeShapeType="1"/>
            </p:cNvSpPr>
            <p:nvPr/>
          </p:nvSpPr>
          <p:spPr bwMode="auto">
            <a:xfrm>
              <a:off x="5612" y="580"/>
              <a:ext cx="0" cy="364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de-DE"/>
            </a:p>
          </p:txBody>
        </p:sp>
      </p:grpSp>
      <p:sp>
        <p:nvSpPr>
          <p:cNvPr id="1027" name="Rectangle 154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1054100"/>
            <a:ext cx="8382000" cy="2476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Standard 17.03.2016</a:t>
            </a:r>
          </a:p>
        </p:txBody>
      </p:sp>
      <p:sp>
        <p:nvSpPr>
          <p:cNvPr id="1204" name="Line 180"/>
          <p:cNvSpPr>
            <a:spLocks noChangeShapeType="1"/>
          </p:cNvSpPr>
          <p:nvPr/>
        </p:nvSpPr>
        <p:spPr bwMode="auto">
          <a:xfrm>
            <a:off x="0" y="905021"/>
            <a:ext cx="9906000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>
              <a:defRPr/>
            </a:pPr>
            <a:endParaRPr lang="de-DE"/>
          </a:p>
        </p:txBody>
      </p:sp>
      <p:grpSp>
        <p:nvGrpSpPr>
          <p:cNvPr id="1030" name="Group 195"/>
          <p:cNvGrpSpPr>
            <a:grpSpLocks/>
          </p:cNvGrpSpPr>
          <p:nvPr/>
        </p:nvGrpSpPr>
        <p:grpSpPr bwMode="auto">
          <a:xfrm>
            <a:off x="381000" y="1295400"/>
            <a:ext cx="9372600" cy="5486400"/>
            <a:chOff x="240" y="816"/>
            <a:chExt cx="5904" cy="3456"/>
          </a:xfrm>
        </p:grpSpPr>
        <p:sp>
          <p:nvSpPr>
            <p:cNvPr id="1207" name="Line 183"/>
            <p:cNvSpPr>
              <a:spLocks noChangeShapeType="1"/>
            </p:cNvSpPr>
            <p:nvPr/>
          </p:nvSpPr>
          <p:spPr bwMode="auto">
            <a:xfrm flipH="1">
              <a:off x="240" y="1152"/>
              <a:ext cx="432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08" name="Line 184"/>
            <p:cNvSpPr>
              <a:spLocks noChangeShapeType="1"/>
            </p:cNvSpPr>
            <p:nvPr/>
          </p:nvSpPr>
          <p:spPr bwMode="auto">
            <a:xfrm flipV="1">
              <a:off x="672" y="816"/>
              <a:ext cx="0" cy="336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09" name="Line 185"/>
            <p:cNvSpPr>
              <a:spLocks noChangeShapeType="1"/>
            </p:cNvSpPr>
            <p:nvPr/>
          </p:nvSpPr>
          <p:spPr bwMode="auto">
            <a:xfrm flipH="1">
              <a:off x="5952" y="1152"/>
              <a:ext cx="192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10" name="Line 186"/>
            <p:cNvSpPr>
              <a:spLocks noChangeShapeType="1"/>
            </p:cNvSpPr>
            <p:nvPr/>
          </p:nvSpPr>
          <p:spPr bwMode="auto">
            <a:xfrm flipV="1">
              <a:off x="5952" y="816"/>
              <a:ext cx="0" cy="336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11" name="Line 187"/>
            <p:cNvSpPr>
              <a:spLocks noChangeShapeType="1"/>
            </p:cNvSpPr>
            <p:nvPr/>
          </p:nvSpPr>
          <p:spPr bwMode="auto">
            <a:xfrm flipH="1">
              <a:off x="5952" y="3936"/>
              <a:ext cx="192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12" name="Line 188"/>
            <p:cNvSpPr>
              <a:spLocks noChangeShapeType="1"/>
            </p:cNvSpPr>
            <p:nvPr/>
          </p:nvSpPr>
          <p:spPr bwMode="auto">
            <a:xfrm flipV="1">
              <a:off x="5952" y="3936"/>
              <a:ext cx="0" cy="336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13" name="Line 189"/>
            <p:cNvSpPr>
              <a:spLocks noChangeShapeType="1"/>
            </p:cNvSpPr>
            <p:nvPr/>
          </p:nvSpPr>
          <p:spPr bwMode="auto">
            <a:xfrm flipV="1">
              <a:off x="672" y="3936"/>
              <a:ext cx="0" cy="336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14" name="Line 190"/>
            <p:cNvSpPr>
              <a:spLocks noChangeShapeType="1"/>
            </p:cNvSpPr>
            <p:nvPr/>
          </p:nvSpPr>
          <p:spPr bwMode="auto">
            <a:xfrm flipH="1">
              <a:off x="240" y="3936"/>
              <a:ext cx="432" cy="0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17" name="Line 193"/>
            <p:cNvSpPr>
              <a:spLocks noChangeShapeType="1"/>
            </p:cNvSpPr>
            <p:nvPr/>
          </p:nvSpPr>
          <p:spPr bwMode="auto">
            <a:xfrm flipV="1">
              <a:off x="3312" y="816"/>
              <a:ext cx="0" cy="336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18" name="Line 194"/>
            <p:cNvSpPr>
              <a:spLocks noChangeShapeType="1"/>
            </p:cNvSpPr>
            <p:nvPr/>
          </p:nvSpPr>
          <p:spPr bwMode="auto">
            <a:xfrm flipV="1">
              <a:off x="3312" y="3936"/>
              <a:ext cx="0" cy="336"/>
            </a:xfrm>
            <a:prstGeom prst="line">
              <a:avLst/>
            </a:prstGeom>
            <a:noFill/>
            <a:ln w="127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>
                <a:defRPr/>
              </a:pPr>
              <a:endParaRPr lang="de-DE"/>
            </a:p>
          </p:txBody>
        </p:sp>
      </p:grpSp>
      <p:sp>
        <p:nvSpPr>
          <p:cNvPr id="1288" name="Text Box 264"/>
          <p:cNvSpPr txBox="1">
            <a:spLocks noChangeArrowheads="1"/>
          </p:cNvSpPr>
          <p:nvPr/>
        </p:nvSpPr>
        <p:spPr bwMode="auto">
          <a:xfrm>
            <a:off x="23778" y="6746680"/>
            <a:ext cx="1428760" cy="831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de-DE" sz="600" b="0" dirty="0">
                <a:sym typeface="Symbol" pitchFamily="18" charset="2"/>
              </a:rPr>
              <a:t> Prof. Dr. Achim Dehnert</a:t>
            </a:r>
          </a:p>
        </p:txBody>
      </p:sp>
      <p:sp>
        <p:nvSpPr>
          <p:cNvPr id="47" name="Datumsplatzhalter 46"/>
          <p:cNvSpPr>
            <a:spLocks noGrp="1"/>
          </p:cNvSpPr>
          <p:nvPr>
            <p:ph type="dt" sz="half" idx="2"/>
          </p:nvPr>
        </p:nvSpPr>
        <p:spPr>
          <a:xfrm>
            <a:off x="215900" y="6357957"/>
            <a:ext cx="546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0D24B-699D-4AAB-B51D-1AD20DEE300D}" type="datetime1">
              <a:rPr lang="de-DE" smtClean="0"/>
              <a:pPr/>
              <a:t>03.11.2025</a:t>
            </a:fld>
            <a:endParaRPr lang="de-DE" dirty="0"/>
          </a:p>
        </p:txBody>
      </p:sp>
      <p:sp>
        <p:nvSpPr>
          <p:cNvPr id="49" name="Foliennummernplatzhalter 48"/>
          <p:cNvSpPr>
            <a:spLocks noGrp="1"/>
          </p:cNvSpPr>
          <p:nvPr>
            <p:ph type="sldNum" sz="quarter" idx="4"/>
          </p:nvPr>
        </p:nvSpPr>
        <p:spPr>
          <a:xfrm>
            <a:off x="7499384" y="6357958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1E498-8611-4836-9623-3745B585B070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2" r:id="rId2"/>
    <p:sldLayoutId id="2147483657" r:id="rId3"/>
  </p:sldLayoutIdLst>
  <p:transition>
    <p:zoom/>
  </p:transition>
  <p:hf hdr="0" ftr="0" dt="0"/>
  <p:txStyles>
    <p:titleStyle>
      <a:lvl1pPr algn="l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+mj-lt"/>
          <a:ea typeface="+mj-ea"/>
          <a:cs typeface="+mj-cs"/>
        </a:defRPr>
      </a:lvl1pPr>
      <a:lvl2pPr algn="l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</a:defRPr>
      </a:lvl2pPr>
      <a:lvl3pPr algn="l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</a:defRPr>
      </a:lvl3pPr>
      <a:lvl4pPr algn="l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</a:defRPr>
      </a:lvl4pPr>
      <a:lvl5pPr algn="l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</a:defRPr>
      </a:lvl5pPr>
      <a:lvl6pPr marL="457200" algn="l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</a:defRPr>
      </a:lvl6pPr>
      <a:lvl7pPr marL="914400" algn="l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</a:defRPr>
      </a:lvl7pPr>
      <a:lvl8pPr marL="1371600" algn="l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</a:defRPr>
      </a:lvl8pPr>
      <a:lvl9pPr marL="1828800" algn="l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charset="0"/>
        </a:defRPr>
      </a:lvl9pPr>
    </p:titleStyle>
    <p:bodyStyle>
      <a:lvl1pPr marL="234950" indent="-234950" algn="l" defTabSz="762000" rtl="0" eaLnBrk="0" fontAlgn="base" hangingPunct="0">
        <a:lnSpc>
          <a:spcPct val="90000"/>
        </a:lnSpc>
        <a:spcBef>
          <a:spcPts val="2000"/>
        </a:spcBef>
        <a:spcAft>
          <a:spcPct val="0"/>
        </a:spcAft>
        <a:buClr>
          <a:srgbClr val="0033CC"/>
        </a:buClr>
        <a:buSzPct val="100000"/>
        <a:buFont typeface="Arial" charset="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82600" indent="-234950" algn="l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0033CC"/>
        </a:buClr>
        <a:buSzPct val="100000"/>
        <a:buFont typeface="Arial" charset="0"/>
        <a:buChar char="–"/>
        <a:defRPr>
          <a:solidFill>
            <a:schemeClr val="tx1"/>
          </a:solidFill>
          <a:latin typeface="+mn-lt"/>
        </a:defRPr>
      </a:lvl2pPr>
      <a:lvl3pPr marL="706438" indent="-196850" algn="l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SzPct val="100000"/>
        <a:buFont typeface="Arial" charset="0"/>
        <a:buChar char="-"/>
        <a:defRPr>
          <a:solidFill>
            <a:schemeClr val="tx1"/>
          </a:solidFill>
          <a:latin typeface="+mn-lt"/>
        </a:defRPr>
      </a:lvl3pPr>
      <a:lvl4pPr marL="912813" indent="-195263" algn="l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SzPct val="100000"/>
        <a:buFont typeface="Arial" charset="0"/>
        <a:buChar char="·"/>
        <a:defRPr>
          <a:solidFill>
            <a:schemeClr val="tx1"/>
          </a:solidFill>
          <a:latin typeface="+mn-lt"/>
        </a:defRPr>
      </a:lvl4pPr>
      <a:lvl5pPr marL="2071688" indent="-315913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28888" indent="-315913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86088" indent="-315913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43288" indent="-315913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900488" indent="-315913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Relationship Id="rId8" Type="http://schemas.microsoft.com/office/2007/relationships/diagramDrawing" Target="../diagrams/drawing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diagramData" Target="../diagrams/data3.xml"/><Relationship Id="rId5" Type="http://schemas.openxmlformats.org/officeDocument/2006/relationships/diagramLayout" Target="../diagrams/layout3.xml"/><Relationship Id="rId6" Type="http://schemas.openxmlformats.org/officeDocument/2006/relationships/diagramQuickStyle" Target="../diagrams/quickStyle3.xml"/><Relationship Id="rId7" Type="http://schemas.openxmlformats.org/officeDocument/2006/relationships/diagramColors" Target="../diagrams/colors3.xml"/><Relationship Id="rId8" Type="http://schemas.microsoft.com/office/2007/relationships/diagramDrawing" Target="../diagrams/drawing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en.wikipedia.org/wiki/ISBN_(identifier)" TargetMode="External"/><Relationship Id="rId4" Type="http://schemas.openxmlformats.org/officeDocument/2006/relationships/hyperlink" Target="https://en.wikipedia.org/wiki/Special:BookSources/1-57675-105-8" TargetMode="External"/><Relationship Id="rId5" Type="http://schemas.openxmlformats.org/officeDocument/2006/relationships/hyperlink" Target="https://lexikon.stangl.eu/2929/selbstregulationstheorie/" TargetMode="External"/><Relationship Id="rId6" Type="http://schemas.openxmlformats.org/officeDocument/2006/relationships/diagramData" Target="../diagrams/data4.xml"/><Relationship Id="rId7" Type="http://schemas.openxmlformats.org/officeDocument/2006/relationships/diagramLayout" Target="../diagrams/layout4.xml"/><Relationship Id="rId8" Type="http://schemas.openxmlformats.org/officeDocument/2006/relationships/diagramQuickStyle" Target="../diagrams/quickStyle4.xml"/><Relationship Id="rId9" Type="http://schemas.openxmlformats.org/officeDocument/2006/relationships/diagramColors" Target="../diagrams/colors4.xml"/><Relationship Id="rId10" Type="http://schemas.microsoft.com/office/2007/relationships/diagramDrawing" Target="../diagrams/drawing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-37161"/>
            <a:ext cx="9906000" cy="6885383"/>
          </a:xfrm>
          <a:prstGeom prst="rect">
            <a:avLst/>
          </a:prstGeom>
          <a:solidFill>
            <a:srgbClr val="919191"/>
          </a:solidFill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l"/>
            <a:endParaRPr lang="de-DE" sz="1800" b="0" dirty="0">
              <a:solidFill>
                <a:schemeClr val="tx1"/>
              </a:solidFill>
            </a:endParaRP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1280592" y="4941168"/>
            <a:ext cx="2519362" cy="102489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l" defTabSz="762000"/>
            <a:r>
              <a:rPr lang="de-DE" sz="1200" dirty="0">
                <a:solidFill>
                  <a:schemeClr val="bg1"/>
                </a:solidFill>
              </a:rPr>
              <a:t>Prof. Dr. Achim Dehnert</a:t>
            </a:r>
          </a:p>
          <a:p>
            <a:pPr algn="l" defTabSz="762000"/>
            <a:endParaRPr lang="de-DE" sz="1200" dirty="0">
              <a:solidFill>
                <a:schemeClr val="bg1"/>
              </a:solidFill>
            </a:endParaRPr>
          </a:p>
          <a:p>
            <a:pPr algn="l" defTabSz="762000"/>
            <a:endParaRPr lang="de-DE" sz="1200" dirty="0">
              <a:solidFill>
                <a:schemeClr val="bg1"/>
              </a:solidFill>
            </a:endParaRPr>
          </a:p>
          <a:p>
            <a:pPr algn="l" defTabSz="762000"/>
            <a:endParaRPr lang="de-DE" sz="1200" dirty="0">
              <a:solidFill>
                <a:schemeClr val="bg1"/>
              </a:solidFill>
            </a:endParaRPr>
          </a:p>
          <a:p>
            <a:pPr algn="l" defTabSz="762000"/>
            <a:endParaRPr lang="de-DE" sz="1200" dirty="0">
              <a:solidFill>
                <a:schemeClr val="bg1"/>
              </a:solidFill>
            </a:endParaRPr>
          </a:p>
          <a:p>
            <a:pPr algn="l" defTabSz="762000"/>
            <a:endParaRPr lang="de-DE" sz="1400" dirty="0">
              <a:solidFill>
                <a:schemeClr val="tx1"/>
              </a:solidFill>
            </a:endParaRPr>
          </a:p>
        </p:txBody>
      </p:sp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3" cstate="print"/>
          <a:srcRect l="33685" r="26242"/>
          <a:stretch>
            <a:fillRect/>
          </a:stretch>
        </p:blipFill>
        <p:spPr bwMode="auto">
          <a:xfrm>
            <a:off x="6589713" y="1"/>
            <a:ext cx="3316287" cy="68580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sp>
        <p:nvSpPr>
          <p:cNvPr id="2" name="Foliennummernplatzhalter 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/>
              <a:t>S. </a:t>
            </a:r>
            <a:fld id="{1861E498-8611-4836-9623-3745B585B070}" type="slidenum">
              <a:rPr lang="de-DE" smtClean="0"/>
              <a:pPr/>
              <a:t>0</a:t>
            </a:fld>
            <a:endParaRPr lang="de-DE" dirty="0"/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666565" y="2060848"/>
            <a:ext cx="5256584" cy="21051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l" defTabSz="762000"/>
            <a:r>
              <a:rPr lang="de-DE" sz="1800" dirty="0">
                <a:solidFill>
                  <a:schemeClr val="tx1">
                    <a:lumMod val="75000"/>
                  </a:schemeClr>
                </a:solidFill>
              </a:rPr>
              <a:t>Hochschule Neu-Ulm</a:t>
            </a:r>
          </a:p>
          <a:p>
            <a:pPr algn="l" defTabSz="762000"/>
            <a:endParaRPr lang="de-DE" sz="1800" dirty="0">
              <a:solidFill>
                <a:schemeClr val="tx1">
                  <a:lumMod val="75000"/>
                </a:schemeClr>
              </a:solidFill>
            </a:endParaRPr>
          </a:p>
          <a:p>
            <a:pPr algn="l" defTabSz="762000"/>
            <a:r>
              <a:rPr lang="de-DE" sz="1800" dirty="0">
                <a:solidFill>
                  <a:schemeClr val="tx1">
                    <a:lumMod val="75000"/>
                  </a:schemeClr>
                </a:solidFill>
              </a:rPr>
              <a:t>GEM_DIL_M4 </a:t>
            </a:r>
            <a:br>
              <a:rPr lang="de-DE" sz="1800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de-DE" sz="1800" dirty="0">
                <a:solidFill>
                  <a:schemeClr val="tx1">
                    <a:lumMod val="75000"/>
                  </a:schemeClr>
                </a:solidFill>
              </a:rPr>
              <a:t>Führung und Schlüsselqualifikation </a:t>
            </a:r>
            <a:br>
              <a:rPr lang="de-DE" sz="1800" dirty="0">
                <a:solidFill>
                  <a:schemeClr val="tx1">
                    <a:lumMod val="75000"/>
                  </a:schemeClr>
                </a:solidFill>
              </a:rPr>
            </a:br>
            <a:endParaRPr lang="de-DE" sz="1200" dirty="0">
              <a:solidFill>
                <a:schemeClr val="tx1">
                  <a:lumMod val="75000"/>
                </a:schemeClr>
              </a:solidFill>
            </a:endParaRPr>
          </a:p>
          <a:p>
            <a:pPr algn="l" defTabSz="762000"/>
            <a:endParaRPr lang="de-DE" sz="1200" dirty="0">
              <a:solidFill>
                <a:schemeClr val="tx1">
                  <a:lumMod val="75000"/>
                </a:schemeClr>
              </a:solidFill>
            </a:endParaRPr>
          </a:p>
          <a:p>
            <a:pPr algn="l" defTabSz="762000"/>
            <a:endParaRPr lang="de-DE" sz="1800" dirty="0">
              <a:solidFill>
                <a:schemeClr val="tx1">
                  <a:lumMod val="75000"/>
                </a:schemeClr>
              </a:solidFill>
            </a:endParaRPr>
          </a:p>
          <a:p>
            <a:pPr algn="l" defTabSz="762000">
              <a:spcAft>
                <a:spcPct val="50000"/>
              </a:spcAft>
            </a:pPr>
            <a:r>
              <a:rPr lang="de-DE" sz="2000" dirty="0" err="1">
                <a:solidFill>
                  <a:schemeClr val="bg1"/>
                </a:solidFill>
              </a:rPr>
              <a:t>Self</a:t>
            </a:r>
            <a:r>
              <a:rPr lang="de-DE" sz="2000" dirty="0">
                <a:solidFill>
                  <a:schemeClr val="bg1"/>
                </a:solidFill>
              </a:rPr>
              <a:t> Leadership</a:t>
            </a:r>
            <a:br>
              <a:rPr lang="de-DE" dirty="0">
                <a:solidFill>
                  <a:schemeClr val="bg1"/>
                </a:solidFill>
              </a:rPr>
            </a:br>
            <a:endParaRPr lang="de-DE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D93EEBF-8011-4D65-9AB7-F4B0A52F7C21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1064568" y="172500"/>
            <a:ext cx="8501122" cy="369332"/>
          </a:xfrm>
        </p:spPr>
        <p:txBody>
          <a:bodyPr/>
          <a:lstStyle/>
          <a:p>
            <a:r>
              <a:rPr lang="de-DE" dirty="0"/>
              <a:t>Willkommen im Workshop „</a:t>
            </a:r>
            <a:r>
              <a:rPr lang="de-DE" dirty="0" err="1"/>
              <a:t>Self</a:t>
            </a:r>
            <a:r>
              <a:rPr lang="de-DE" dirty="0"/>
              <a:t> Leadership“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2D07B50-9EFD-457F-B2BF-EFECBEBEC38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/>
              <a:t>S. </a:t>
            </a:r>
            <a:fld id="{1861E498-8611-4836-9623-3745B585B070}" type="slidenum">
              <a:rPr lang="de-DE" smtClean="0"/>
              <a:pPr/>
              <a:t>1</a:t>
            </a:fld>
            <a:endParaRPr lang="de-DE" dirty="0"/>
          </a:p>
        </p:txBody>
      </p:sp>
      <p:sp>
        <p:nvSpPr>
          <p:cNvPr id="7" name="AutoShape 4" descr="Moderationsmaterial - Moderationskarten">
            <a:extLst>
              <a:ext uri="{FF2B5EF4-FFF2-40B4-BE49-F238E27FC236}">
                <a16:creationId xmlns:a16="http://schemas.microsoft.com/office/drawing/2014/main" id="{D735B7FD-01B8-46A6-B2B9-9182964AD5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3276600"/>
            <a:ext cx="2698784" cy="2698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67F19C3-B920-4606-918B-1644C8B03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800" y="1168836"/>
            <a:ext cx="3918540" cy="261236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2F3765E7-733A-403E-9BCD-5ADB156FB5FC}"/>
              </a:ext>
            </a:extLst>
          </p:cNvPr>
          <p:cNvSpPr txBox="1"/>
          <p:nvPr/>
        </p:nvSpPr>
        <p:spPr>
          <a:xfrm>
            <a:off x="1424608" y="4221088"/>
            <a:ext cx="8064896" cy="2336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95250" algn="l">
              <a:buFont typeface="+mj-lt"/>
              <a:buAutoNum type="arabicPeriod"/>
            </a:pPr>
            <a:r>
              <a:rPr lang="de-DE" sz="1800" dirty="0"/>
              <a:t> Erstellen Sie ein „baugleiches“ Namensschild.</a:t>
            </a:r>
          </a:p>
          <a:p>
            <a:pPr marL="182563" indent="-95250" algn="l">
              <a:buFont typeface="+mj-lt"/>
              <a:buAutoNum type="arabicPeriod"/>
            </a:pPr>
            <a:r>
              <a:rPr lang="de-DE" sz="1800" dirty="0"/>
              <a:t> Beschriften Sie es je eines der Felder mit  </a:t>
            </a:r>
          </a:p>
          <a:p>
            <a:pPr marL="887413" lvl="1" indent="-342900" algn="l">
              <a:buFont typeface="+mj-lt"/>
              <a:buAutoNum type="alphaLcParenR"/>
            </a:pPr>
            <a:r>
              <a:rPr lang="de-DE" sz="1800" dirty="0"/>
              <a:t>ihrem Namen</a:t>
            </a:r>
          </a:p>
          <a:p>
            <a:pPr marL="887413" lvl="1" indent="-342900" algn="l">
              <a:buFont typeface="+mj-lt"/>
              <a:buAutoNum type="alphaLcParenR"/>
            </a:pPr>
            <a:r>
              <a:rPr lang="de-DE" sz="1800" dirty="0"/>
              <a:t>2 Fakten</a:t>
            </a:r>
          </a:p>
          <a:p>
            <a:pPr marL="887413" lvl="1" indent="-342900" algn="l">
              <a:buFont typeface="+mj-lt"/>
              <a:buAutoNum type="alphaLcParenR"/>
            </a:pPr>
            <a:r>
              <a:rPr lang="de-DE" sz="1800" dirty="0"/>
              <a:t>einer Lüge und </a:t>
            </a:r>
          </a:p>
          <a:p>
            <a:pPr marL="887413" lvl="1" indent="-342900" algn="l">
              <a:buFont typeface="+mj-lt"/>
              <a:buAutoNum type="alphaLcParenR"/>
            </a:pPr>
            <a:r>
              <a:rPr lang="de-DE" sz="1800" dirty="0"/>
              <a:t>einer Eigenschaft, von der Sie denken , dass sie einzigartig in der Gruppe ist.</a:t>
            </a:r>
          </a:p>
          <a:p>
            <a:pPr marL="182563" indent="-95250" algn="l">
              <a:buFont typeface="+mj-lt"/>
              <a:buAutoNum type="arabicPeriod"/>
            </a:pPr>
            <a:r>
              <a:rPr lang="de-DE" sz="1800" dirty="0"/>
              <a:t> Stellen Sie sich anhand des Namensschildes vor</a:t>
            </a:r>
          </a:p>
          <a:p>
            <a:pPr algn="l">
              <a:buFont typeface="+mj-lt"/>
              <a:buAutoNum type="arabicPeriod"/>
            </a:pP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3885954449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9A6DC32-5CDC-4F4E-8E2D-06D858D0227E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1309662" y="243938"/>
            <a:ext cx="8501122" cy="523220"/>
          </a:xfrm>
        </p:spPr>
        <p:txBody>
          <a:bodyPr/>
          <a:lstStyle/>
          <a:p>
            <a:pPr algn="ctr"/>
            <a:r>
              <a:rPr lang="de-DE" sz="2800" dirty="0"/>
              <a:t>Leadership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98B5193-6628-461A-A505-D8AA4C2ED2B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/>
              <a:t>S. </a:t>
            </a:r>
            <a:fld id="{1861E498-8611-4836-9623-3745B585B070}" type="slidenum">
              <a:rPr lang="de-DE" smtClean="0"/>
              <a:pPr/>
              <a:t>2</a:t>
            </a:fld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712811B-636D-4C4C-838E-019C6C9BB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600" y="1268760"/>
            <a:ext cx="7809224" cy="460851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5A52EB2C-4487-4AC5-8011-D3EB1E57943C}"/>
              </a:ext>
            </a:extLst>
          </p:cNvPr>
          <p:cNvSpPr txBox="1"/>
          <p:nvPr/>
        </p:nvSpPr>
        <p:spPr>
          <a:xfrm>
            <a:off x="4664968" y="5877272"/>
            <a:ext cx="497467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0" i="0" dirty="0">
                <a:solidFill>
                  <a:srgbClr val="000000"/>
                </a:solidFill>
                <a:effectLst/>
                <a:latin typeface="Helvetica Neue"/>
              </a:rPr>
              <a:t>Morgan, J. (2020): </a:t>
            </a:r>
            <a:br>
              <a:rPr lang="en-US" sz="800" b="0" i="0" dirty="0">
                <a:solidFill>
                  <a:srgbClr val="000000"/>
                </a:solidFill>
                <a:effectLst/>
                <a:latin typeface="Helvetica Neue"/>
              </a:rPr>
            </a:br>
            <a:r>
              <a:rPr lang="en-US" sz="800" b="0" i="0" dirty="0">
                <a:solidFill>
                  <a:srgbClr val="000000"/>
                </a:solidFill>
                <a:effectLst/>
                <a:latin typeface="Helvetica Neue"/>
              </a:rPr>
              <a:t>The Future Leader – 9 skills and mindsets to succeed in the next decade. </a:t>
            </a:r>
            <a:br>
              <a:rPr lang="en-US" sz="800" b="0" i="0" dirty="0">
                <a:solidFill>
                  <a:srgbClr val="000000"/>
                </a:solidFill>
                <a:effectLst/>
                <a:latin typeface="Helvetica Neue"/>
              </a:rPr>
            </a:br>
            <a:r>
              <a:rPr lang="en-US" sz="800" b="0" i="0" dirty="0">
                <a:solidFill>
                  <a:srgbClr val="000000"/>
                </a:solidFill>
                <a:effectLst/>
                <a:latin typeface="Helvetica Neue"/>
              </a:rPr>
              <a:t>John Wiley: New Jersey, p. 202.)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343756895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9A6DC32-5CDC-4F4E-8E2D-06D858D0227E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1309662" y="243938"/>
            <a:ext cx="8501122" cy="523220"/>
          </a:xfrm>
        </p:spPr>
        <p:txBody>
          <a:bodyPr/>
          <a:lstStyle/>
          <a:p>
            <a:pPr algn="ctr"/>
            <a:r>
              <a:rPr lang="de-DE" sz="2800" dirty="0" err="1"/>
              <a:t>Self</a:t>
            </a:r>
            <a:r>
              <a:rPr lang="de-DE" sz="2800" dirty="0"/>
              <a:t> Leadership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A50E11-2729-498C-8650-72BC3D6788D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425588" y="2204864"/>
            <a:ext cx="8267879" cy="2127642"/>
          </a:xfrm>
        </p:spPr>
        <p:txBody>
          <a:bodyPr/>
          <a:lstStyle/>
          <a:p>
            <a:r>
              <a:rPr lang="en-US" sz="2400" b="0" i="1" dirty="0">
                <a:solidFill>
                  <a:srgbClr val="000000"/>
                </a:solidFill>
                <a:effectLst/>
              </a:rPr>
              <a:t>„The first layer of skills a good leader must master are internal: </a:t>
            </a:r>
          </a:p>
          <a:p>
            <a:r>
              <a:rPr lang="en-US" sz="2400" b="0" i="1" dirty="0">
                <a:solidFill>
                  <a:srgbClr val="000000"/>
                </a:solidFill>
                <a:effectLst/>
              </a:rPr>
              <a:t>managing himself or herself as an individual human being.</a:t>
            </a:r>
          </a:p>
          <a:p>
            <a:r>
              <a:rPr lang="en-US" sz="2400" b="0" i="1" dirty="0">
                <a:solidFill>
                  <a:srgbClr val="000000"/>
                </a:solidFill>
                <a:effectLst/>
              </a:rPr>
              <a:t>This includes physical health, emotional balance, self-knowledge….”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98B5193-6628-461A-A505-D8AA4C2ED2B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/>
              <a:t>S. </a:t>
            </a:r>
            <a:fld id="{1861E498-8611-4836-9623-3745B585B070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A52EB2C-4487-4AC5-8011-D3EB1E57943C}"/>
              </a:ext>
            </a:extLst>
          </p:cNvPr>
          <p:cNvSpPr txBox="1"/>
          <p:nvPr/>
        </p:nvSpPr>
        <p:spPr>
          <a:xfrm>
            <a:off x="4690976" y="4869160"/>
            <a:ext cx="497467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b="0" i="0" dirty="0">
                <a:solidFill>
                  <a:srgbClr val="000000"/>
                </a:solidFill>
                <a:effectLst/>
                <a:latin typeface="Helvetica Neue"/>
              </a:rPr>
              <a:t>Morgan, J. (2020): </a:t>
            </a:r>
            <a:br>
              <a:rPr lang="en-US" sz="800" b="0" i="0" dirty="0">
                <a:solidFill>
                  <a:srgbClr val="000000"/>
                </a:solidFill>
                <a:effectLst/>
                <a:latin typeface="Helvetica Neue"/>
              </a:rPr>
            </a:br>
            <a:r>
              <a:rPr lang="en-US" sz="800" b="0" i="0" dirty="0">
                <a:solidFill>
                  <a:srgbClr val="000000"/>
                </a:solidFill>
                <a:effectLst/>
                <a:latin typeface="Helvetica Neue"/>
              </a:rPr>
              <a:t>The Future Leader – 9 skills and mindsets to succeed in the next decade. </a:t>
            </a:r>
            <a:br>
              <a:rPr lang="en-US" sz="800" b="0" i="0" dirty="0">
                <a:solidFill>
                  <a:srgbClr val="000000"/>
                </a:solidFill>
                <a:effectLst/>
                <a:latin typeface="Helvetica Neue"/>
              </a:rPr>
            </a:br>
            <a:r>
              <a:rPr lang="en-US" sz="800" b="0" i="0" dirty="0">
                <a:solidFill>
                  <a:srgbClr val="000000"/>
                </a:solidFill>
                <a:effectLst/>
                <a:latin typeface="Helvetica Neue"/>
              </a:rPr>
              <a:t>John Wiley: New Jersey, p. 202.)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3353906840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F9EE9A0-5D67-4BAE-9ADB-2579C58FBABF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1202505" y="160231"/>
            <a:ext cx="8501122" cy="369332"/>
          </a:xfrm>
        </p:spPr>
        <p:txBody>
          <a:bodyPr/>
          <a:lstStyle/>
          <a:p>
            <a:pPr algn="ctr"/>
            <a:r>
              <a:rPr lang="de-DE" dirty="0"/>
              <a:t>Die Papierflieger Challenge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7A8957-BC67-4B75-897A-666D0E57B324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280592" y="4051162"/>
            <a:ext cx="7819802" cy="2712364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b="0" i="0" dirty="0">
                <a:solidFill>
                  <a:srgbClr val="0A0A0A"/>
                </a:solidFill>
                <a:effectLst/>
                <a:latin typeface="-apple-system"/>
              </a:rPr>
              <a:t>Bauen Sie innerhalb von 20 min zehn baugleiche Einheiten </a:t>
            </a:r>
            <a:r>
              <a:rPr lang="de-DE" dirty="0">
                <a:solidFill>
                  <a:srgbClr val="0A0A0A"/>
                </a:solidFill>
                <a:latin typeface="-apple-system"/>
              </a:rPr>
              <a:t>ihres Papierfliegers, der möglichst weit fliegen soll.</a:t>
            </a:r>
          </a:p>
          <a:p>
            <a:pPr marL="342900" indent="-342900">
              <a:buFont typeface="+mj-lt"/>
              <a:buAutoNum type="arabicPeriod"/>
            </a:pPr>
            <a:r>
              <a:rPr lang="de-DE" b="0" i="0" dirty="0">
                <a:solidFill>
                  <a:srgbClr val="0A0A0A"/>
                </a:solidFill>
                <a:effectLst/>
                <a:latin typeface="-apple-system"/>
              </a:rPr>
              <a:t>Nach Abschluss der Bauphase erfolgen die Testflüge im Flur der HNU. 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solidFill>
                  <a:srgbClr val="0A0A0A"/>
                </a:solidFill>
                <a:latin typeface="-apple-system"/>
              </a:rPr>
              <a:t>Sieger ist die Gruppe mit der größten </a:t>
            </a:r>
            <a:r>
              <a:rPr lang="de-DE" b="0" i="0" dirty="0">
                <a:solidFill>
                  <a:srgbClr val="0A0A0A"/>
                </a:solidFill>
                <a:effectLst/>
                <a:latin typeface="-apple-system"/>
              </a:rPr>
              <a:t>gemittelte Weite aller „Flüge“ ihrer Flotte … </a:t>
            </a:r>
          </a:p>
          <a:p>
            <a:pPr marL="342900" indent="-342900">
              <a:buFont typeface="+mj-lt"/>
              <a:buAutoNum type="arabicPeriod"/>
            </a:pPr>
            <a:endParaRPr lang="de-DE" b="0" i="0" dirty="0">
              <a:solidFill>
                <a:srgbClr val="0A0A0A"/>
              </a:solidFill>
              <a:effectLst/>
              <a:latin typeface="-apple-system"/>
            </a:endParaRPr>
          </a:p>
          <a:p>
            <a:r>
              <a:rPr lang="de-DE" dirty="0">
                <a:solidFill>
                  <a:srgbClr val="0A0A0A"/>
                </a:solidFill>
                <a:latin typeface="-apple-system"/>
              </a:rPr>
              <a:t>Viel Erfolg wünscht die Flugleitung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31706F-5567-4AAA-8B6F-DF1D6C2D6F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/>
              <a:t>S. </a:t>
            </a:r>
            <a:fld id="{1861E498-8611-4836-9623-3745B585B070}" type="slidenum">
              <a:rPr lang="de-DE" smtClean="0"/>
              <a:pPr/>
              <a:t>4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269A7FE-D22E-419B-808E-E7062B9C6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816" y="1476508"/>
            <a:ext cx="4020452" cy="2298006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119EC7B-60B0-4174-BD04-655C0F6F4326}"/>
              </a:ext>
            </a:extLst>
          </p:cNvPr>
          <p:cNvSpPr txBox="1">
            <a:spLocks/>
          </p:cNvSpPr>
          <p:nvPr/>
        </p:nvSpPr>
        <p:spPr>
          <a:xfrm>
            <a:off x="1640632" y="1027717"/>
            <a:ext cx="7819802" cy="457067"/>
          </a:xfrm>
          <a:prstGeom prst="rect">
            <a:avLst/>
          </a:prstGeom>
        </p:spPr>
        <p:txBody>
          <a:bodyPr/>
          <a:lstStyle>
            <a:lvl1pPr marL="0" indent="0" algn="l" defTabSz="762000" rtl="0" eaLnBrk="0" fontAlgn="base" hangingPunct="0">
              <a:lnSpc>
                <a:spcPct val="90000"/>
              </a:lnSpc>
              <a:spcBef>
                <a:spcPts val="2000"/>
              </a:spcBef>
              <a:spcAft>
                <a:spcPct val="0"/>
              </a:spcAft>
              <a:buClr>
                <a:srgbClr val="0033CC"/>
              </a:buClr>
              <a:buSzPct val="100000"/>
              <a:buFont typeface="Arial" charset="0"/>
              <a:buNone/>
              <a:defRPr sz="16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82600" indent="-234950" algn="l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Pct val="100000"/>
              <a:buFont typeface="Arial" charset="0"/>
              <a:buChar char="–"/>
              <a:defRPr sz="1600">
                <a:solidFill>
                  <a:schemeClr val="tx1">
                    <a:lumMod val="50000"/>
                  </a:schemeClr>
                </a:solidFill>
                <a:latin typeface="+mn-lt"/>
              </a:defRPr>
            </a:lvl2pPr>
            <a:lvl3pPr marL="706438" indent="-196850" algn="l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charset="0"/>
              <a:buChar char="-"/>
              <a:defRPr sz="1200">
                <a:solidFill>
                  <a:schemeClr val="tx1">
                    <a:lumMod val="50000"/>
                  </a:schemeClr>
                </a:solidFill>
                <a:latin typeface="+mn-lt"/>
              </a:defRPr>
            </a:lvl3pPr>
            <a:lvl4pPr marL="912813" indent="-195263" algn="l" defTabSz="7620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charset="0"/>
              <a:buChar char="·"/>
              <a:defRPr sz="1000">
                <a:solidFill>
                  <a:schemeClr val="tx1">
                    <a:lumMod val="50000"/>
                  </a:schemeClr>
                </a:solidFill>
                <a:latin typeface="+mn-lt"/>
              </a:defRPr>
            </a:lvl4pPr>
            <a:lvl5pPr marL="2071688" indent="-315913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5pPr>
            <a:lvl6pPr marL="2528888" indent="-315913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86088" indent="-315913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43288" indent="-315913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900488" indent="-315913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de-DE" b="0" kern="0" dirty="0">
                <a:solidFill>
                  <a:srgbClr val="0A0A0A"/>
                </a:solidFill>
                <a:latin typeface="-apple-system"/>
              </a:rPr>
              <a:t>5 Gruppen treten gegeneinander an, um das Modell mit der größten Flugweite zu ermitteln.</a:t>
            </a:r>
            <a:br>
              <a:rPr lang="de-DE" b="0" kern="0" dirty="0"/>
            </a:br>
            <a:endParaRPr lang="de-DE" b="0" kern="0" dirty="0"/>
          </a:p>
        </p:txBody>
      </p:sp>
    </p:spTree>
    <p:extLst>
      <p:ext uri="{BB962C8B-B14F-4D97-AF65-F5344CB8AC3E}">
        <p14:creationId xmlns:p14="http://schemas.microsoft.com/office/powerpoint/2010/main" val="753638568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1"/>
          </p:nvPr>
        </p:nvSpPr>
        <p:spPr>
          <a:xfrm>
            <a:off x="2864768" y="1962526"/>
            <a:ext cx="5976664" cy="916724"/>
          </a:xfrm>
          <a:noFill/>
        </p:spPr>
        <p:txBody>
          <a:bodyPr>
            <a:noAutofit/>
          </a:bodyPr>
          <a:lstStyle/>
          <a:p>
            <a:pPr marL="369888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Grundlagen</a:t>
            </a:r>
            <a:endParaRPr lang="en-US" sz="2800" dirty="0"/>
          </a:p>
          <a:p>
            <a:pPr marL="369888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69888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Persönlichkeit</a:t>
            </a:r>
            <a:r>
              <a:rPr lang="en-US" sz="2800" dirty="0"/>
              <a:t> und Leadership</a:t>
            </a:r>
          </a:p>
          <a:p>
            <a:pPr marL="369888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69888" indent="-285750">
              <a:buFont typeface="Arial" panose="020B0604020202020204" pitchFamily="34" charset="0"/>
              <a:buChar char="•"/>
            </a:pPr>
            <a:r>
              <a:rPr lang="en-US" sz="2800" i="1" dirty="0"/>
              <a:t>Self-Leadership</a:t>
            </a:r>
          </a:p>
          <a:p>
            <a:br>
              <a:rPr lang="de-DE" sz="2800" dirty="0"/>
            </a:br>
            <a:endParaRPr lang="de-DE" sz="3200" dirty="0"/>
          </a:p>
        </p:txBody>
      </p:sp>
      <p:sp>
        <p:nvSpPr>
          <p:cNvPr id="4" name="Rechteck 3">
            <a:hlinkClick r:id="" action="ppaction://noaction"/>
          </p:cNvPr>
          <p:cNvSpPr/>
          <p:nvPr/>
        </p:nvSpPr>
        <p:spPr bwMode="auto">
          <a:xfrm>
            <a:off x="56456" y="1268760"/>
            <a:ext cx="648072" cy="36004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5" name="Rechteck 4">
            <a:hlinkClick r:id="" action="ppaction://noaction"/>
          </p:cNvPr>
          <p:cNvSpPr/>
          <p:nvPr/>
        </p:nvSpPr>
        <p:spPr bwMode="auto">
          <a:xfrm>
            <a:off x="56456" y="908720"/>
            <a:ext cx="648072" cy="216024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" name="Rechteck 5">
            <a:hlinkClick r:id="" action="ppaction://noaction"/>
          </p:cNvPr>
          <p:cNvSpPr/>
          <p:nvPr/>
        </p:nvSpPr>
        <p:spPr bwMode="auto">
          <a:xfrm>
            <a:off x="56456" y="1268760"/>
            <a:ext cx="720080" cy="28803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7" name="Rechteck 6">
            <a:hlinkClick r:id="" action="ppaction://noaction"/>
          </p:cNvPr>
          <p:cNvSpPr/>
          <p:nvPr/>
        </p:nvSpPr>
        <p:spPr bwMode="auto">
          <a:xfrm>
            <a:off x="56456" y="1792196"/>
            <a:ext cx="504056" cy="196644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8" name="Rechteck 7">
            <a:hlinkClick r:id="" action="ppaction://noaction"/>
          </p:cNvPr>
          <p:cNvSpPr/>
          <p:nvPr/>
        </p:nvSpPr>
        <p:spPr bwMode="auto">
          <a:xfrm>
            <a:off x="56456" y="2132856"/>
            <a:ext cx="648072" cy="144016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9" name="Rechteck 8">
            <a:hlinkClick r:id="" action="ppaction://noaction"/>
          </p:cNvPr>
          <p:cNvSpPr/>
          <p:nvPr/>
        </p:nvSpPr>
        <p:spPr bwMode="auto">
          <a:xfrm>
            <a:off x="56456" y="2420888"/>
            <a:ext cx="648072" cy="28803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696243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sz="half" idx="11"/>
          </p:nvPr>
        </p:nvSpPr>
        <p:spPr>
          <a:xfrm>
            <a:off x="992560" y="980728"/>
            <a:ext cx="8501122" cy="369332"/>
          </a:xfrm>
        </p:spPr>
        <p:txBody>
          <a:bodyPr/>
          <a:lstStyle/>
          <a:p>
            <a:r>
              <a:rPr lang="de-DE" dirty="0"/>
              <a:t>   Der betriebliche Lebenszyklus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/>
              <a:t>S. </a:t>
            </a:r>
            <a:fld id="{1861E498-8611-4836-9623-3745B585B070}" type="slidenum">
              <a:rPr lang="de-DE" smtClean="0"/>
              <a:pPr/>
              <a:t>6</a:t>
            </a:fld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672" y="1496299"/>
            <a:ext cx="6142786" cy="4579803"/>
          </a:xfrm>
          <a:prstGeom prst="rect">
            <a:avLst/>
          </a:prstGeom>
        </p:spPr>
      </p:pic>
      <p:sp>
        <p:nvSpPr>
          <p:cNvPr id="9" name="Rechteck 8"/>
          <p:cNvSpPr/>
          <p:nvPr/>
        </p:nvSpPr>
        <p:spPr>
          <a:xfrm>
            <a:off x="2792760" y="6076102"/>
            <a:ext cx="4953000" cy="4247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endParaRPr lang="en-US" b="0" dirty="0">
              <a:latin typeface="Segoe UI" panose="020B0502040204020203" pitchFamily="34" charset="0"/>
            </a:endParaRPr>
          </a:p>
          <a:p>
            <a:pPr algn="l"/>
            <a:endParaRPr lang="en-US" b="0" dirty="0">
              <a:latin typeface="Segoe UI" panose="020B0502040204020203" pitchFamily="34" charset="0"/>
            </a:endParaRPr>
          </a:p>
          <a:p>
            <a:pPr algn="l"/>
            <a:r>
              <a:rPr lang="de-DE" dirty="0">
                <a:latin typeface="Segoe UI" panose="020B0502040204020203" pitchFamily="34" charset="0"/>
              </a:rPr>
              <a:t>Der betriebliche Lebenszyklus von GRAF, A (2008), S. 275 (</a:t>
            </a:r>
            <a:r>
              <a:rPr lang="de-DE" dirty="0" err="1">
                <a:latin typeface="Segoe UI" panose="020B0502040204020203" pitchFamily="34" charset="0"/>
              </a:rPr>
              <a:t>Stangel-Meseke</a:t>
            </a:r>
            <a:r>
              <a:rPr lang="de-DE" dirty="0">
                <a:latin typeface="Segoe UI" panose="020B0502040204020203" pitchFamily="34" charset="0"/>
              </a:rPr>
              <a:t> 2015 #50: 10)</a:t>
            </a:r>
          </a:p>
        </p:txBody>
      </p:sp>
      <p:graphicFrame>
        <p:nvGraphicFramePr>
          <p:cNvPr id="10" name="Diagramm 9"/>
          <p:cNvGraphicFramePr/>
          <p:nvPr>
            <p:extLst>
              <p:ext uri="{D42A27DB-BD31-4B8C-83A1-F6EECF244321}">
                <p14:modId xmlns:p14="http://schemas.microsoft.com/office/powerpoint/2010/main" val="1772437518"/>
              </p:ext>
            </p:extLst>
          </p:nvPr>
        </p:nvGraphicFramePr>
        <p:xfrm>
          <a:off x="992560" y="209277"/>
          <a:ext cx="3384376" cy="502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1" name="Rechteck 10"/>
          <p:cNvSpPr/>
          <p:nvPr/>
        </p:nvSpPr>
        <p:spPr>
          <a:xfrm>
            <a:off x="4226680" y="3327434"/>
            <a:ext cx="1452641" cy="2031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>
                <a:latin typeface="Segoe UI" panose="020B0502040204020203" pitchFamily="34" charset="0"/>
              </a:rPr>
              <a:t>betriebliche Lebenszyklus </a:t>
            </a:r>
            <a:endParaRPr lang="en-US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FA60D37-5D45-46CC-8382-68B08806DA3D}"/>
              </a:ext>
            </a:extLst>
          </p:cNvPr>
          <p:cNvSpPr/>
          <p:nvPr/>
        </p:nvSpPr>
        <p:spPr bwMode="auto">
          <a:xfrm>
            <a:off x="0" y="908720"/>
            <a:ext cx="771528" cy="332399"/>
          </a:xfrm>
          <a:prstGeom prst="rect">
            <a:avLst/>
          </a:prstGeom>
          <a:solidFill>
            <a:schemeClr val="accent1">
              <a:lumMod val="20000"/>
              <a:lumOff val="80000"/>
              <a:alpha val="41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dirty="0"/>
          </a:p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855119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sz="half" idx="11"/>
          </p:nvPr>
        </p:nvSpPr>
        <p:spPr>
          <a:xfrm>
            <a:off x="976729" y="1721445"/>
            <a:ext cx="8501122" cy="1431161"/>
          </a:xfrm>
        </p:spPr>
        <p:txBody>
          <a:bodyPr/>
          <a:lstStyle/>
          <a:p>
            <a:r>
              <a:rPr lang="de-DE" sz="1200" dirty="0"/>
              <a:t>Die Betrachtung individueller Lebensereignisse eines Menschen hat seine Ursprünge in der </a:t>
            </a:r>
            <a:r>
              <a:rPr lang="de-DE" sz="1200" b="1" dirty="0"/>
              <a:t>amerikanischen „Life-Event-Forschung," </a:t>
            </a:r>
            <a:r>
              <a:rPr lang="de-DE" sz="1200" dirty="0"/>
              <a:t>die in der Diskussion in Deutschland vor allem die Sensibilisierung für individuelle Zusammenhänge mit dem Hinweis auf beeinflussende Faktoren auf die Gesundheit aufnahm. (</a:t>
            </a:r>
            <a:r>
              <a:rPr lang="de-DE" sz="1200" dirty="0" err="1"/>
              <a:t>Stangel-Meseke</a:t>
            </a:r>
            <a:r>
              <a:rPr lang="de-DE" sz="1200" dirty="0"/>
              <a:t> 2015, S.13)</a:t>
            </a:r>
          </a:p>
          <a:p>
            <a:r>
              <a:rPr lang="de-DE" sz="1200" dirty="0"/>
              <a:t>-&gt; Berücksichtigung der Unternehmens- und der Mitarbeiterseite </a:t>
            </a:r>
          </a:p>
          <a:p>
            <a:r>
              <a:rPr lang="de-DE" sz="1200" dirty="0"/>
              <a:t>-&gt; Unberücksichtigt: Konzept des lebensereignisorientieren Personalmanagements </a:t>
            </a:r>
            <a:r>
              <a:rPr lang="de-DE" sz="1200" dirty="0">
                <a:sym typeface="Wingdings" panose="05000000000000000000" pitchFamily="2" charset="2"/>
              </a:rPr>
              <a:t> </a:t>
            </a:r>
            <a:r>
              <a:rPr lang="de-DE" sz="1200" dirty="0"/>
              <a:t>Transparenz gewollt   ???  </a:t>
            </a:r>
          </a:p>
          <a:p>
            <a:r>
              <a:rPr lang="de-DE" sz="1200" dirty="0"/>
              <a:t>						 (vgl. </a:t>
            </a:r>
            <a:r>
              <a:rPr lang="de-DE" sz="1200" dirty="0" err="1"/>
              <a:t>Stangel-Meseke</a:t>
            </a:r>
            <a:r>
              <a:rPr lang="de-DE" sz="1200" dirty="0"/>
              <a:t> 2015, S.21)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/>
              <a:t>S. </a:t>
            </a:r>
            <a:fld id="{1861E498-8611-4836-9623-3745B585B070}" type="slidenum">
              <a:rPr lang="de-DE" smtClean="0"/>
              <a:pPr/>
              <a:t>7</a:t>
            </a:fld>
            <a:endParaRPr lang="de-DE" dirty="0"/>
          </a:p>
        </p:txBody>
      </p:sp>
      <p:graphicFrame>
        <p:nvGraphicFramePr>
          <p:cNvPr id="10" name="Diagramm 9"/>
          <p:cNvGraphicFramePr/>
          <p:nvPr>
            <p:extLst>
              <p:ext uri="{D42A27DB-BD31-4B8C-83A1-F6EECF244321}">
                <p14:modId xmlns:p14="http://schemas.microsoft.com/office/powerpoint/2010/main" val="2877537120"/>
              </p:ext>
            </p:extLst>
          </p:nvPr>
        </p:nvGraphicFramePr>
        <p:xfrm>
          <a:off x="992560" y="209277"/>
          <a:ext cx="3384376" cy="502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Grafik 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358" y="3306049"/>
            <a:ext cx="4236720" cy="2874264"/>
          </a:xfrm>
          <a:prstGeom prst="rect">
            <a:avLst/>
          </a:prstGeom>
        </p:spPr>
      </p:pic>
      <p:sp>
        <p:nvSpPr>
          <p:cNvPr id="4" name="Rechteck 3"/>
          <p:cNvSpPr/>
          <p:nvPr/>
        </p:nvSpPr>
        <p:spPr>
          <a:xfrm>
            <a:off x="1064568" y="6205837"/>
            <a:ext cx="4320480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b="0" dirty="0">
              <a:latin typeface="Segoe UI" panose="020B0502040204020203" pitchFamily="34" charset="0"/>
            </a:endParaRPr>
          </a:p>
          <a:p>
            <a:pPr algn="l"/>
            <a:endParaRPr lang="en-US" b="0" dirty="0">
              <a:latin typeface="Segoe UI" panose="020B0502040204020203" pitchFamily="34" charset="0"/>
            </a:endParaRPr>
          </a:p>
          <a:p>
            <a:pPr algn="l"/>
            <a:r>
              <a:rPr lang="de-DE" dirty="0">
                <a:latin typeface="Segoe UI" panose="020B0502040204020203" pitchFamily="34" charset="0"/>
              </a:rPr>
              <a:t>Überblick über die Lebensereignisse (BÖHNE, A. (2009) (</a:t>
            </a:r>
            <a:r>
              <a:rPr lang="de-DE" dirty="0" err="1">
                <a:latin typeface="Segoe UI" panose="020B0502040204020203" pitchFamily="34" charset="0"/>
              </a:rPr>
              <a:t>Stangel-Meseke</a:t>
            </a:r>
            <a:r>
              <a:rPr lang="de-DE" dirty="0">
                <a:latin typeface="Segoe UI" panose="020B0502040204020203" pitchFamily="34" charset="0"/>
              </a:rPr>
              <a:t> 2015, S. 16)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056" y="3306049"/>
            <a:ext cx="4258056" cy="2185416"/>
          </a:xfrm>
          <a:prstGeom prst="rect">
            <a:avLst/>
          </a:prstGeom>
        </p:spPr>
      </p:pic>
      <p:sp>
        <p:nvSpPr>
          <p:cNvPr id="7" name="Rechteck 6"/>
          <p:cNvSpPr/>
          <p:nvPr/>
        </p:nvSpPr>
        <p:spPr>
          <a:xfrm>
            <a:off x="5452599" y="5517232"/>
            <a:ext cx="4258056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b="0" dirty="0">
              <a:latin typeface="Segoe UI" panose="020B0502040204020203" pitchFamily="34" charset="0"/>
            </a:endParaRPr>
          </a:p>
          <a:p>
            <a:pPr algn="l"/>
            <a:endParaRPr lang="en-US" b="0" dirty="0">
              <a:latin typeface="Segoe UI" panose="020B0502040204020203" pitchFamily="34" charset="0"/>
            </a:endParaRPr>
          </a:p>
          <a:p>
            <a:pPr algn="l"/>
            <a:r>
              <a:rPr lang="de-DE" dirty="0">
                <a:latin typeface="Segoe UI" panose="020B0502040204020203" pitchFamily="34" charset="0"/>
              </a:rPr>
              <a:t>Zielsetzungen des lebensereignisorientierten Personalmanagements (</a:t>
            </a:r>
            <a:r>
              <a:rPr lang="de-DE" dirty="0" err="1">
                <a:latin typeface="Segoe UI" panose="020B0502040204020203" pitchFamily="34" charset="0"/>
              </a:rPr>
              <a:t>Stangel-Meseke</a:t>
            </a:r>
            <a:r>
              <a:rPr lang="de-DE" dirty="0">
                <a:latin typeface="Segoe UI" panose="020B0502040204020203" pitchFamily="34" charset="0"/>
              </a:rPr>
              <a:t> 2015, S.14)</a:t>
            </a:r>
          </a:p>
        </p:txBody>
      </p:sp>
      <p:sp>
        <p:nvSpPr>
          <p:cNvPr id="9" name="Inhaltsplatzhalter 1">
            <a:extLst>
              <a:ext uri="{FF2B5EF4-FFF2-40B4-BE49-F238E27FC236}">
                <a16:creationId xmlns:a16="http://schemas.microsoft.com/office/drawing/2014/main" id="{6F9EB987-007B-4466-847A-27A546D8CE18}"/>
              </a:ext>
            </a:extLst>
          </p:cNvPr>
          <p:cNvSpPr txBox="1">
            <a:spLocks/>
          </p:cNvSpPr>
          <p:nvPr/>
        </p:nvSpPr>
        <p:spPr>
          <a:xfrm>
            <a:off x="992560" y="1000108"/>
            <a:ext cx="8501122" cy="369332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</p:spPr>
        <p:txBody>
          <a:bodyPr>
            <a:spAutoFit/>
          </a:bodyPr>
          <a:lstStyle>
            <a:lvl1pPr marL="0" indent="0" algn="l" defTabSz="762000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33CC"/>
              </a:buClr>
              <a:buSzPct val="100000"/>
              <a:buFont typeface="Arial" charset="0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2600" indent="-234950" algn="l" defTabSz="7620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Pct val="100000"/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</a:defRPr>
            </a:lvl2pPr>
            <a:lvl3pPr marL="706438" indent="-196850" algn="l" defTabSz="7620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</a:defRPr>
            </a:lvl3pPr>
            <a:lvl4pPr marL="912813" indent="-195263" algn="l" defTabSz="7620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Arial" charset="0"/>
              <a:buChar char="·"/>
              <a:defRPr sz="1200">
                <a:solidFill>
                  <a:schemeClr val="tx1"/>
                </a:solidFill>
                <a:latin typeface="+mn-lt"/>
              </a:defRPr>
            </a:lvl4pPr>
            <a:lvl5pPr marL="2071688" indent="-315913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5pPr>
            <a:lvl6pPr marL="2528888" indent="-315913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86088" indent="-315913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43288" indent="-315913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900488" indent="-315913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de-DE" b="0" kern="0" dirty="0"/>
              <a:t>   Lebensereignisse</a:t>
            </a:r>
            <a:endParaRPr lang="en-US" b="0" kern="0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39B9BD1-CD7C-4EEE-9681-E801E8DE7EE4}"/>
              </a:ext>
            </a:extLst>
          </p:cNvPr>
          <p:cNvSpPr/>
          <p:nvPr/>
        </p:nvSpPr>
        <p:spPr bwMode="auto">
          <a:xfrm>
            <a:off x="0" y="908720"/>
            <a:ext cx="771528" cy="332399"/>
          </a:xfrm>
          <a:prstGeom prst="rect">
            <a:avLst/>
          </a:prstGeom>
          <a:solidFill>
            <a:schemeClr val="accent1">
              <a:lumMod val="20000"/>
              <a:lumOff val="80000"/>
              <a:alpha val="41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dirty="0"/>
          </a:p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962288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sz="half" idx="11"/>
          </p:nvPr>
        </p:nvSpPr>
        <p:spPr>
          <a:xfrm>
            <a:off x="992560" y="1000108"/>
            <a:ext cx="8818224" cy="830997"/>
          </a:xfrm>
        </p:spPr>
        <p:txBody>
          <a:bodyPr/>
          <a:lstStyle/>
          <a:p>
            <a:r>
              <a:rPr lang="de-DE" sz="1200" b="1" dirty="0"/>
              <a:t>Das </a:t>
            </a:r>
            <a:r>
              <a:rPr lang="de-DE" sz="1200" b="1" u="sng" dirty="0"/>
              <a:t>lebensereignisorientierte Konzept</a:t>
            </a:r>
            <a:r>
              <a:rPr lang="de-DE" sz="1200" b="1" dirty="0"/>
              <a:t> beinhaltet Ereignisse, die der heutigen Arbeitswelt gerechter werden. Es wird von Unternehmen mit verschiedenen Personalinstrumenten umgesetzt, so z. B. lebensereignisorientiertes Personalmarketing, Wissensmanagement, lebensereignisorientierte Personalplanung und -entwicklung sowie Gesamtvergütungssysteme. 						</a:t>
            </a:r>
            <a:r>
              <a:rPr lang="de-DE" sz="1050" b="1" dirty="0"/>
              <a:t>(Stangel-</a:t>
            </a:r>
            <a:r>
              <a:rPr lang="de-DE" sz="1050" b="1" dirty="0" err="1"/>
              <a:t>Meseke</a:t>
            </a:r>
            <a:r>
              <a:rPr lang="de-DE" sz="1050" b="1" dirty="0"/>
              <a:t> 2015, S.23)</a:t>
            </a:r>
            <a:endParaRPr lang="de-DE" sz="1200" b="1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/>
              <a:t>S. </a:t>
            </a:r>
            <a:fld id="{1861E498-8611-4836-9623-3745B585B070}" type="slidenum">
              <a:rPr lang="de-DE" smtClean="0"/>
              <a:pPr/>
              <a:t>8</a:t>
            </a:fld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989918" y="347054"/>
            <a:ext cx="4569354" cy="7699974"/>
          </a:xfrm>
          <a:prstGeom prst="rect">
            <a:avLst/>
          </a:prstGeom>
        </p:spPr>
      </p:pic>
      <p:sp>
        <p:nvSpPr>
          <p:cNvPr id="7" name="Rechteck 6"/>
          <p:cNvSpPr/>
          <p:nvPr/>
        </p:nvSpPr>
        <p:spPr>
          <a:xfrm>
            <a:off x="1784648" y="6500834"/>
            <a:ext cx="7452386" cy="203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dirty="0" err="1">
                <a:latin typeface="Segoe UI" panose="020B0502040204020203" pitchFamily="34" charset="0"/>
              </a:rPr>
              <a:t>Vergleich</a:t>
            </a:r>
            <a:r>
              <a:rPr lang="en-US" dirty="0">
                <a:latin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</a:rPr>
              <a:t>lebensereignisorientierten</a:t>
            </a:r>
            <a:r>
              <a:rPr lang="en-US" dirty="0">
                <a:latin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</a:rPr>
              <a:t>Personalmanagements</a:t>
            </a:r>
            <a:r>
              <a:rPr lang="en-US" dirty="0">
                <a:latin typeface="Segoe UI" panose="020B0502040204020203" pitchFamily="34" charset="0"/>
              </a:rPr>
              <a:t> </a:t>
            </a:r>
            <a:r>
              <a:rPr lang="de-DE" dirty="0">
                <a:latin typeface="Segoe UI" panose="020B0502040204020203" pitchFamily="34" charset="0"/>
              </a:rPr>
              <a:t>und des lebenszyklusorientierten Personalmanagements (</a:t>
            </a:r>
            <a:r>
              <a:rPr lang="de-DE" dirty="0" err="1">
                <a:latin typeface="Segoe UI" panose="020B0502040204020203" pitchFamily="34" charset="0"/>
              </a:rPr>
              <a:t>Stangel-Meseke</a:t>
            </a:r>
            <a:r>
              <a:rPr lang="de-DE" dirty="0">
                <a:latin typeface="Segoe UI" panose="020B0502040204020203" pitchFamily="34" charset="0"/>
              </a:rPr>
              <a:t> 2015, S.25)</a:t>
            </a:r>
          </a:p>
        </p:txBody>
      </p:sp>
      <p:graphicFrame>
        <p:nvGraphicFramePr>
          <p:cNvPr id="8" name="Diagramm 7"/>
          <p:cNvGraphicFramePr/>
          <p:nvPr>
            <p:extLst>
              <p:ext uri="{D42A27DB-BD31-4B8C-83A1-F6EECF244321}">
                <p14:modId xmlns:p14="http://schemas.microsoft.com/office/powerpoint/2010/main" val="3058015206"/>
              </p:ext>
            </p:extLst>
          </p:nvPr>
        </p:nvGraphicFramePr>
        <p:xfrm>
          <a:off x="992560" y="209277"/>
          <a:ext cx="3384376" cy="502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B055127C-C8B4-458C-99C1-BD0485C753E5}"/>
              </a:ext>
            </a:extLst>
          </p:cNvPr>
          <p:cNvSpPr/>
          <p:nvPr/>
        </p:nvSpPr>
        <p:spPr bwMode="auto">
          <a:xfrm>
            <a:off x="0" y="908720"/>
            <a:ext cx="771528" cy="332399"/>
          </a:xfrm>
          <a:prstGeom prst="rect">
            <a:avLst/>
          </a:prstGeom>
          <a:solidFill>
            <a:schemeClr val="accent1">
              <a:lumMod val="20000"/>
              <a:lumOff val="80000"/>
              <a:alpha val="41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dirty="0"/>
          </a:p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794168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5"/>
          </p:nvPr>
        </p:nvSpPr>
        <p:spPr>
          <a:xfrm>
            <a:off x="1117102" y="1268760"/>
            <a:ext cx="8300394" cy="5232074"/>
          </a:xfrm>
        </p:spPr>
        <p:txBody>
          <a:bodyPr/>
          <a:lstStyle/>
          <a:p>
            <a:r>
              <a:rPr lang="de-DE" sz="1200" dirty="0"/>
              <a:t>Praxis der </a:t>
            </a:r>
            <a:r>
              <a:rPr lang="de-DE" sz="1200" dirty="0" err="1"/>
              <a:t>Personzentrierten</a:t>
            </a:r>
            <a:r>
              <a:rPr lang="de-DE" sz="1200" dirty="0"/>
              <a:t> Psychotherapie, 2. Auflage,  Berlin; Heidelberg, Springer, 2018], ISBN: 9783662546703</a:t>
            </a:r>
          </a:p>
          <a:p>
            <a:r>
              <a:rPr lang="de-DE" sz="1200" dirty="0"/>
              <a:t>Steffen, Andreas, Agile Spielzüge - was man vom Basketball für Führung, Strategie und Teamwork lernen kann; Berlin, Heidelberg; Springer; 2020; ISBN: 9783662603789</a:t>
            </a:r>
          </a:p>
          <a:p>
            <a:r>
              <a:rPr lang="en-US" sz="1200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Manz</a:t>
            </a:r>
            <a:r>
              <a:rPr lang="en-US" sz="1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Charles; Henry Sims (2001). </a:t>
            </a:r>
            <a:r>
              <a:rPr lang="en-US" sz="12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new </a:t>
            </a:r>
            <a:r>
              <a:rPr lang="en-US" sz="1200" b="0" i="1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superleadership</a:t>
            </a:r>
            <a:r>
              <a:rPr lang="en-US" sz="12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: leading others to lead themselves</a:t>
            </a:r>
            <a:r>
              <a:rPr lang="en-US" sz="1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Berrett-Koehler Publishers. p. 242. </a:t>
            </a:r>
            <a:r>
              <a:rPr lang="en-US" sz="1200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3" tooltip="ISBN (identifier)"/>
              </a:rPr>
              <a:t>ISBN</a:t>
            </a:r>
            <a:r>
              <a:rPr lang="en-US" sz="1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1200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4" tooltip="Special:BookSources/1-57675-105-8"/>
              </a:rPr>
              <a:t>1-57675-105-8</a:t>
            </a:r>
            <a:r>
              <a:rPr lang="en-US" sz="1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US" sz="1200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Odumeru</a:t>
            </a:r>
            <a:r>
              <a:rPr lang="en-US" sz="1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J. A., &amp; Ogbonna, I. G. (2013). Transformational vs. transactional leadership theories: Evidence in literature. </a:t>
            </a:r>
            <a:r>
              <a:rPr lang="en-US" sz="12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International review of management and business research</a:t>
            </a:r>
            <a:r>
              <a:rPr lang="en-US" sz="1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2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en-US" sz="1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(2), 355 </a:t>
            </a:r>
            <a:endParaRPr lang="en-US" sz="12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r>
              <a:rPr lang="en-US" sz="1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K. </a:t>
            </a:r>
            <a:r>
              <a:rPr lang="en-US" sz="1200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Heinitz</a:t>
            </a:r>
            <a:r>
              <a:rPr lang="en-US" sz="1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J. </a:t>
            </a:r>
            <a:r>
              <a:rPr lang="en-US" sz="1200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Rowohltd</a:t>
            </a:r>
            <a:r>
              <a:rPr lang="en-US" sz="1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: </a:t>
            </a:r>
            <a:r>
              <a:rPr lang="en-US" sz="12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Transformational and charismatic leadership: Assessing the convergent, divergent and criterion validity of the MLQ and the CKS.</a:t>
            </a:r>
            <a:r>
              <a:rPr lang="en-US" sz="1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In: </a:t>
            </a:r>
            <a:r>
              <a:rPr lang="en-US" sz="12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Leadership Quarterly.</a:t>
            </a:r>
            <a:r>
              <a:rPr lang="en-US" sz="1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Band 18, 2007</a:t>
            </a:r>
          </a:p>
          <a:p>
            <a:r>
              <a:rPr lang="en-US" sz="1200" b="0" i="0" dirty="0">
                <a:solidFill>
                  <a:srgbClr val="000000"/>
                </a:solidFill>
                <a:effectLst/>
                <a:latin typeface="Helvetica Neue"/>
              </a:rPr>
              <a:t>Morgan, J. (2020): The Future Leader – 9 skills and mindsets to succeed in the next decade. John Wiley: New Jersey, p. 202.</a:t>
            </a:r>
            <a:br>
              <a:rPr lang="en-US" sz="1200" b="0" i="0" dirty="0">
                <a:solidFill>
                  <a:srgbClr val="000000"/>
                </a:solidFill>
                <a:effectLst/>
                <a:latin typeface="Helvetica Neue"/>
              </a:rPr>
            </a:br>
            <a:endParaRPr lang="en-US" sz="1200" b="0" i="0" dirty="0">
              <a:solidFill>
                <a:srgbClr val="000000"/>
              </a:solidFill>
              <a:effectLst/>
              <a:latin typeface="Helvetica Neue"/>
            </a:endParaRPr>
          </a:p>
          <a:p>
            <a:pPr marL="0" marR="0" lvl="0" indent="0" algn="l" defTabSz="7620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effectLst/>
              </a:rPr>
              <a:t>Bandura, A. (1990). Self-Regulation </a:t>
            </a:r>
            <a:r>
              <a:rPr lang="de-DE" sz="1200" dirty="0" err="1">
                <a:effectLst/>
              </a:rPr>
              <a:t>of</a:t>
            </a:r>
            <a:r>
              <a:rPr lang="de-DE" sz="1200" dirty="0">
                <a:effectLst/>
              </a:rPr>
              <a:t> Motivation Through </a:t>
            </a:r>
            <a:r>
              <a:rPr lang="de-DE" sz="1200" dirty="0" err="1">
                <a:effectLst/>
              </a:rPr>
              <a:t>Anticipatory</a:t>
            </a:r>
            <a:r>
              <a:rPr lang="de-DE" sz="1200" dirty="0">
                <a:effectLst/>
              </a:rPr>
              <a:t> and Self-</a:t>
            </a:r>
            <a:r>
              <a:rPr lang="de-DE" sz="1200" dirty="0" err="1">
                <a:effectLst/>
              </a:rPr>
              <a:t>Reactive</a:t>
            </a:r>
            <a:r>
              <a:rPr lang="de-DE" sz="1200" dirty="0">
                <a:effectLst/>
              </a:rPr>
              <a:t> </a:t>
            </a:r>
            <a:r>
              <a:rPr lang="de-DE" sz="1200" dirty="0" err="1">
                <a:effectLst/>
              </a:rPr>
              <a:t>Mechanisms</a:t>
            </a:r>
            <a:r>
              <a:rPr lang="de-DE" sz="1200" dirty="0">
                <a:effectLst/>
              </a:rPr>
              <a:t>. In R.A. Dienstbier (Hrsg.), </a:t>
            </a:r>
            <a:r>
              <a:rPr lang="de-DE" sz="1200" dirty="0" err="1">
                <a:effectLst/>
              </a:rPr>
              <a:t>Perspectives</a:t>
            </a:r>
            <a:r>
              <a:rPr lang="de-DE" sz="1200" dirty="0">
                <a:effectLst/>
              </a:rPr>
              <a:t> on Motivation, Nebraska Symposium on Motivation 1990 (S.69-164). University </a:t>
            </a:r>
            <a:r>
              <a:rPr lang="de-DE" sz="1200" dirty="0" err="1">
                <a:effectLst/>
              </a:rPr>
              <a:t>of</a:t>
            </a:r>
            <a:r>
              <a:rPr lang="de-DE" sz="1200" dirty="0">
                <a:effectLst/>
              </a:rPr>
              <a:t> Nebraska Press. Ozimek, P.</a:t>
            </a:r>
            <a:br>
              <a:rPr lang="de-DE" sz="1200" dirty="0">
                <a:effectLst/>
              </a:rPr>
            </a:br>
            <a:br>
              <a:rPr lang="de-DE" sz="1200" dirty="0">
                <a:effectLst/>
              </a:rPr>
            </a:br>
            <a:r>
              <a:rPr lang="de-DE" sz="1200" dirty="0">
                <a:effectLst/>
              </a:rPr>
              <a:t>Stangl, W. (2019). Stichwort: '</a:t>
            </a:r>
            <a:r>
              <a:rPr lang="de-DE" sz="1200" i="1" dirty="0">
                <a:effectLst/>
              </a:rPr>
              <a:t>Selbstregulationstheorie'.</a:t>
            </a:r>
            <a:r>
              <a:rPr lang="de-DE" sz="1200" dirty="0">
                <a:effectLst/>
              </a:rPr>
              <a:t> Online Lexikon für Psychologie und Pädagogik. WWW: </a:t>
            </a:r>
            <a:r>
              <a:rPr lang="de-DE" sz="1200" dirty="0">
                <a:effectLst/>
                <a:hlinkClick r:id="rId5"/>
              </a:rPr>
              <a:t>https://lexikon.stangl.eu/2929/selbstregulationstheorie/</a:t>
            </a:r>
            <a:r>
              <a:rPr lang="de-DE" sz="1200" dirty="0">
                <a:effectLst/>
              </a:rPr>
              <a:t> (2019-09-19)</a:t>
            </a:r>
            <a:br>
              <a:rPr lang="de-DE" sz="1200" dirty="0">
                <a:effectLst/>
              </a:rPr>
            </a:br>
            <a:endParaRPr lang="de-DE" sz="1200" dirty="0">
              <a:effectLst/>
            </a:endParaRPr>
          </a:p>
          <a:p>
            <a:pPr marL="0" marR="0" lvl="0" indent="0" algn="l" defTabSz="7620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dirty="0">
                <a:solidFill>
                  <a:srgbClr val="000000"/>
                </a:solidFill>
                <a:effectLst/>
                <a:latin typeface="Helvetica Neue"/>
              </a:rPr>
              <a:t>Di Stefano, G., Francesca G., Pisano, Gary P., and Staats, B.: </a:t>
            </a:r>
            <a:r>
              <a:rPr lang="de-DE" sz="1200" b="0" i="1" dirty="0">
                <a:solidFill>
                  <a:srgbClr val="000000"/>
                </a:solidFill>
                <a:effectLst/>
                <a:latin typeface="Helvetica Neue"/>
              </a:rPr>
              <a:t>Making Experience Count: The </a:t>
            </a:r>
            <a:r>
              <a:rPr lang="de-DE" sz="1200" b="0" i="1" dirty="0" err="1">
                <a:solidFill>
                  <a:srgbClr val="000000"/>
                </a:solidFill>
                <a:effectLst/>
                <a:latin typeface="Helvetica Neue"/>
              </a:rPr>
              <a:t>Role</a:t>
            </a:r>
            <a:r>
              <a:rPr lang="de-DE" sz="1200" b="0" i="1" dirty="0">
                <a:solidFill>
                  <a:srgbClr val="000000"/>
                </a:solidFill>
                <a:effectLst/>
                <a:latin typeface="Helvetica Neue"/>
              </a:rPr>
              <a:t> </a:t>
            </a:r>
            <a:r>
              <a:rPr lang="de-DE" sz="1200" b="0" i="1" dirty="0" err="1">
                <a:solidFill>
                  <a:srgbClr val="000000"/>
                </a:solidFill>
                <a:effectLst/>
                <a:latin typeface="Helvetica Neue"/>
              </a:rPr>
              <a:t>of</a:t>
            </a:r>
            <a:r>
              <a:rPr lang="de-DE" sz="1200" b="0" i="1" dirty="0">
                <a:solidFill>
                  <a:srgbClr val="000000"/>
                </a:solidFill>
                <a:effectLst/>
                <a:latin typeface="Helvetica Neue"/>
              </a:rPr>
              <a:t> </a:t>
            </a:r>
            <a:r>
              <a:rPr lang="de-DE" sz="1200" b="0" i="1" dirty="0" err="1">
                <a:solidFill>
                  <a:srgbClr val="000000"/>
                </a:solidFill>
                <a:effectLst/>
                <a:latin typeface="Helvetica Neue"/>
              </a:rPr>
              <a:t>Reflection</a:t>
            </a:r>
            <a:r>
              <a:rPr lang="de-DE" sz="1200" b="0" i="1" dirty="0">
                <a:solidFill>
                  <a:srgbClr val="000000"/>
                </a:solidFill>
                <a:effectLst/>
                <a:latin typeface="Helvetica Neue"/>
              </a:rPr>
              <a:t> in Individual Learning</a:t>
            </a:r>
            <a:r>
              <a:rPr lang="de-DE" sz="1200" b="0" i="0" dirty="0">
                <a:solidFill>
                  <a:srgbClr val="000000"/>
                </a:solidFill>
                <a:effectLst/>
                <a:latin typeface="Helvetica Neue"/>
              </a:rPr>
              <a:t>. Harvard Business School Working Paper, </a:t>
            </a:r>
            <a:r>
              <a:rPr lang="de-DE" sz="1200" b="0" i="0" dirty="0" err="1">
                <a:solidFill>
                  <a:srgbClr val="000000"/>
                </a:solidFill>
                <a:effectLst/>
                <a:latin typeface="Helvetica Neue"/>
              </a:rPr>
              <a:t>No</a:t>
            </a:r>
            <a:r>
              <a:rPr lang="de-DE" sz="1200" b="0" i="0" dirty="0">
                <a:solidFill>
                  <a:srgbClr val="000000"/>
                </a:solidFill>
                <a:effectLst/>
                <a:latin typeface="Helvetica Neue"/>
              </a:rPr>
              <a:t>. 14-093, March 2014. </a:t>
            </a:r>
            <a:r>
              <a:rPr lang="de-DE" sz="1200" b="0" i="0" dirty="0" err="1">
                <a:solidFill>
                  <a:srgbClr val="000000"/>
                </a:solidFill>
                <a:effectLst/>
                <a:latin typeface="Helvetica Neue"/>
              </a:rPr>
              <a:t>Revised</a:t>
            </a:r>
            <a:r>
              <a:rPr lang="de-DE" sz="1200" b="0" i="0" dirty="0">
                <a:solidFill>
                  <a:srgbClr val="000000"/>
                </a:solidFill>
                <a:effectLst/>
                <a:latin typeface="Helvetica Neue"/>
              </a:rPr>
              <a:t> June 2016</a:t>
            </a:r>
            <a:endParaRPr lang="de-DE" sz="1200" b="1" dirty="0"/>
          </a:p>
          <a:p>
            <a:endParaRPr lang="de-DE" sz="1200" b="1" dirty="0"/>
          </a:p>
          <a:p>
            <a:endParaRPr lang="de-DE" sz="12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/>
              <a:t>S. </a:t>
            </a:r>
            <a:fld id="{1861E498-8611-4836-9623-3745B585B070}" type="slidenum">
              <a:rPr lang="de-DE" smtClean="0"/>
              <a:pPr/>
              <a:t>9</a:t>
            </a:fld>
            <a:endParaRPr lang="de-DE" dirty="0"/>
          </a:p>
        </p:txBody>
      </p:sp>
      <p:graphicFrame>
        <p:nvGraphicFramePr>
          <p:cNvPr id="6" name="Diagramm 5"/>
          <p:cNvGraphicFramePr/>
          <p:nvPr>
            <p:extLst>
              <p:ext uri="{D42A27DB-BD31-4B8C-83A1-F6EECF244321}">
                <p14:modId xmlns:p14="http://schemas.microsoft.com/office/powerpoint/2010/main" val="3826681164"/>
              </p:ext>
            </p:extLst>
          </p:nvPr>
        </p:nvGraphicFramePr>
        <p:xfrm>
          <a:off x="992560" y="209277"/>
          <a:ext cx="4392488" cy="502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50DEE391-AA66-4D70-AA20-D4D65F1306DA}"/>
              </a:ext>
            </a:extLst>
          </p:cNvPr>
          <p:cNvSpPr/>
          <p:nvPr/>
        </p:nvSpPr>
        <p:spPr bwMode="auto">
          <a:xfrm>
            <a:off x="0" y="1735980"/>
            <a:ext cx="771528" cy="332399"/>
          </a:xfrm>
          <a:prstGeom prst="rect">
            <a:avLst/>
          </a:prstGeom>
          <a:solidFill>
            <a:schemeClr val="accent1">
              <a:lumMod val="20000"/>
              <a:lumOff val="80000"/>
              <a:alpha val="41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dirty="0"/>
          </a:p>
          <a:p>
            <a:pPr marL="0" marR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542716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Overview: Latest Trends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half"/>
          </p:nvPr>
        </p:nvSpPr>
        <p:spPr/>
        <p:txBody>
          <a:bodyPr/>
          <a:lstStyle/>
          <a:p>
            <a:r>
              <a:t>Research Analysis - 3 sources reviewed</a:t>
            </a:r>
          </a:p>
          <a:p/>
          <a:p/>
          <a:p>
            <a:r>
              <a:t>Key Areas Covered:</a:t>
            </a:r>
          </a:p>
          <a:p/>
          <a:p>
            <a:r>
              <a:t>1. Latest trend in Latest Trends in AI</a:t>
            </a:r>
          </a:p>
          <a:p/>
          <a:p>
            <a:r>
              <a:t>2. Result 2 for: Latest Trends in AI</a:t>
            </a:r>
          </a:p>
          <a:p/>
          <a:p>
            <a:r>
              <a:t>3. Result 3 for: Latest Trends in AI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half"/>
          </p:nvPr>
        </p:nvSpPr>
        <p:spPr/>
        <p:txBody>
          <a:bodyPr/>
          <a:lstStyle/>
          <a:p>
            <a:r>
              <a:t>Key Takeaways:</a:t>
            </a:r>
          </a:p>
          <a:p/>
          <a:p>
            <a:r>
              <a:t>• This is mock content about Latest Trends in AI</a:t>
            </a:r>
          </a:p>
          <a:p>
            <a:r>
              <a:t>• This is mock content about Latest Trends in AI</a:t>
            </a:r>
          </a:p>
          <a:p>
            <a:r>
              <a:t>• This is mock content about Latest Trends in AI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trend in Latest Trends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half"/>
          </p:nvPr>
        </p:nvSpPr>
        <p:spPr/>
        <p:txBody>
          <a:bodyPr/>
          <a:lstStyle/>
          <a:p>
            <a:r>
              <a:t>This is mock content about Latest Trends in AI. Key points include various aspects of the topic. The research covers important developments and future implications. Multiple perspectives are considere...</a:t>
            </a:r>
          </a:p>
          <a:p/>
          <a:p/>
          <a:p>
            <a:r>
              <a:t>Key Points:</a:t>
            </a:r>
          </a:p>
          <a:p>
            <a:r>
              <a:t>• This is mock content about Latest Trends in AI</a:t>
            </a:r>
          </a:p>
          <a:p>
            <a:r>
              <a:t>• Key points include various aspects of the topic</a:t>
            </a:r>
          </a:p>
          <a:p>
            <a:r>
              <a:t>• The research covers important developments and future implications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2 for: Latest Trends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half"/>
          </p:nvPr>
        </p:nvSpPr>
        <p:spPr/>
        <p:txBody>
          <a:bodyPr/>
          <a:lstStyle/>
          <a:p>
            <a:r>
              <a:t>This is mock content about Latest Trends in AI. Key points include various aspects of the topic. The research covers important developments and future implications. Multiple perspectives are considere...</a:t>
            </a:r>
          </a:p>
          <a:p/>
          <a:p/>
          <a:p>
            <a:r>
              <a:t>Key Points:</a:t>
            </a:r>
          </a:p>
          <a:p>
            <a:r>
              <a:t>• This is mock content about Latest Trends in AI</a:t>
            </a:r>
          </a:p>
          <a:p>
            <a:r>
              <a:t>• Key points include various aspects of the topic</a:t>
            </a:r>
          </a:p>
          <a:p>
            <a:r>
              <a:t>• The research covers important developments and future implications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3 for: Latest Trends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half"/>
          </p:nvPr>
        </p:nvSpPr>
        <p:spPr/>
        <p:txBody>
          <a:bodyPr/>
          <a:lstStyle/>
          <a:p>
            <a:r>
              <a:t>This is mock content about Latest Trends in AI. Key points include various aspects of the topic. The research covers important developments and future implications. Multiple perspectives are considere...</a:t>
            </a:r>
          </a:p>
          <a:p/>
          <a:p/>
          <a:p>
            <a:r>
              <a:t>Key Points:</a:t>
            </a:r>
          </a:p>
          <a:p>
            <a:r>
              <a:t>• This is mock content about Latest Trends in AI</a:t>
            </a:r>
          </a:p>
          <a:p>
            <a:r>
              <a:t>• Key points include various aspects of the topic</a:t>
            </a:r>
          </a:p>
          <a:p>
            <a:r>
              <a:t>• The research covers important developments and future implications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1" sz="half"/>
          </p:nvPr>
        </p:nvSpPr>
        <p:spPr/>
        <p:txBody>
          <a:bodyPr wrap="square"/>
          <a:lstStyle/>
          <a:p>
            <a:pPr>
              <a:spcBef>
                <a:spcPts val="1600"/>
              </a:spcBef>
              <a:spcAft>
                <a:spcPts val="800"/>
              </a:spcAft>
              <a:defRPr sz="2400" b="1">
                <a:solidFill>
                  <a:srgbClr val="764BA2"/>
                </a:solidFill>
              </a:defRPr>
            </a:pPr>
            <a:r>
              <a:t>Das Dopamin-Missverständnis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**Populäre Annahme (FALSCH):**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"Dopamin = Belohnungs-Neurotransmitter"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**Wissenschaftliche Realität:**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"Dopamin = Motivations- und Erwartungs-Neurotransmitter"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50505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WAS DOPAMIN WIRKLICH MACHT                          │</a:t>
            </a:r>
            <a:br/>
            <a:r>
              <a:t>│                                                                  │</a:t>
            </a:r>
            <a:br/>
            <a:r>
              <a:t>│  NICHT: "Das fühlt sich gut an" (das sind Endorphine, Oxytocin) │</a:t>
            </a:r>
            <a:br/>
            <a:r>
              <a:t>│                                                                  │</a:t>
            </a:r>
            <a:br/>
            <a:r>
              <a:t>│  SONDERN: "Ich WILL das haben/erreichen"                         │</a:t>
            </a:r>
            <a:br/>
            <a:r>
              <a:t>│            "Es KÖNNTE sich gut anfühlen"                         │</a:t>
            </a:r>
            <a:br/>
            <a:r>
              <a:t>│            "MEHR 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 b="1">
                <a:solidFill>
                  <a:srgbClr val="764BA2"/>
                </a:solidFill>
              </a:defRPr>
            </a:pPr>
            <a:r>
              <a:t>Die Dopamin-Pfade im Gehirn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**Vier Haupt-Dopamin-Bahnen:**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50505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1. MESOLIMBISCHER PFAD (Belohnung &amp; Motivation)                │</a:t>
            </a:r>
            <a:br/>
            <a:r>
              <a:t>│  ━━━━━━━━━━━━━━━━━━━━━━━━━━━━━━━━━━━━━━━━━━━━━━━━━━━━━━━━━━  │</a:t>
            </a:r>
            <a:br/>
            <a:r>
              <a:t>│                                                                  │</a:t>
            </a:r>
            <a:br/>
            <a:r>
              <a:t>│  VTA (Ventral Tegmental Area)  →  Nucleus Accumbens             │</a:t>
            </a:r>
            <a:br/>
            <a:r>
              <a:t>│                                 →  Amygdala                      │</a:t>
            </a:r>
            <a:br/>
            <a:r>
              <a:t>│                                 →  Hippocampus                   │</a:t>
            </a:r>
            <a:br/>
            <a:r>
              <a:t>│                       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 b="1">
                <a:solidFill>
                  <a:srgbClr val="764BA2"/>
                </a:solidFill>
              </a:defRPr>
            </a:pPr>
            <a:r>
              <a:t>Dopamin &amp; Motivation: Die Reward Prediction Error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**Schlüssel-Konzept für Self-Leadership:**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50505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REWARD PREDICTION ERROR (RPE)                            │</a:t>
            </a:r>
            <a:br/>
            <a:r>
              <a:t>│                                                                  │</a:t>
            </a:r>
            <a:br/>
            <a:r>
              <a:t>│  Dopamin-Neuronen feuern basierend auf:                         │</a:t>
            </a:r>
            <a:br/>
            <a:r>
              <a:t>│  ERWARTETE Belohnung vs. TATSÄCHLICHE Belohnung                 │</a:t>
            </a:r>
            <a:br/>
            <a:r>
              <a:t>│                                                                  │</a:t>
            </a:r>
            <a:br/>
            <a:r>
              <a:t>│  ┌──────────────────────────────────────────────────────────┐  │</a:t>
            </a:r>
            <a:br/>
            <a:r>
              <a:t>│  │  SITUATION 1: Une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**Die Konsequenz für Self-Leadership:**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i="1">
                <a:solidFill>
                  <a:srgbClr val="646464"/>
                </a:solidFill>
              </a:defRPr>
            </a:pPr>
            <a:r>
              <a:t>"**"Dopamin treibt das WOLLEN, nicht das MÖGEN."**"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i="1">
                <a:solidFill>
                  <a:srgbClr val="646464"/>
                </a:solidFill>
              </a:defRPr>
            </a:pPr>
            <a:r>
              <a:t>"- Hohe Dopamin = Starke Motivation, etwas zu erreichen"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i="1">
                <a:solidFill>
                  <a:srgbClr val="646464"/>
                </a:solidFill>
              </a:defRPr>
            </a:pPr>
            <a:r>
              <a:t>"- Niedrige Dopamin = Antriebslosigkeit, Anhedonie"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i="1">
                <a:solidFill>
                  <a:srgbClr val="646464"/>
                </a:solidFill>
              </a:defRPr>
            </a:pPr>
            <a:r>
              <a:t>"- Dopamin-Spike durch ÜBERRASCHUNG, nicht durch Vorhersagbarkeit"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 b="1">
                <a:solidFill>
                  <a:srgbClr val="764BA2"/>
                </a:solidFill>
              </a:defRPr>
            </a:pPr>
            <a:r>
              <a:t>Das Problem: Dopamin-Hijacking in der modernen Welt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50505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NATÜRLICHE vs. SUPERNORMAL STIMULI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    │</a:t>
            </a:r>
            <a:br/>
            <a:r>
              <a:t>│  EVOLUTIONÄR (Normale Dopamin-Spikes):                          │</a:t>
            </a:r>
            <a:br/>
            <a:r>
              <a:t>│  • Essen finden: +10 Dopamin                                    │</a:t>
            </a:r>
            <a:br/>
            <a:r>
              <a:t>│  • Soziale Verbindung: +15 Dopamin                              │</a:t>
            </a:r>
            <a:br/>
            <a:r>
              <a:t>│  • Erfolg bei Aufgab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**Forschung (Schultz et al.):**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Smartphones nutzen "Variable Rewards" → maximale Dopamin-Spikes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Gaming optimiert Belohnungszyklen neurologisch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Folge: "Dopamine Baseline Reduction" → mehr Anstrengung für gleiche Motivation nötig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 b="1">
                <a:solidFill>
                  <a:srgbClr val="764BA2"/>
                </a:solidFill>
              </a:defRPr>
            </a:pPr>
            <a:r>
              <a:t>Dopamin für Self-Leadership nutzen: 5 Strategien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**STRATEGIE 1: DOPAMIN-DETOX**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505050"/>
                </a:solidFill>
                <a:latin typeface="Courier New"/>
              </a:defRPr>
            </a:pPr>
            <a:r>
              <a:t>Ziel: Baseline-Dopamin erhöhen durch Reduktion supernormaler Stimuli</a:t>
            </a:r>
            <a:br/>
            <a:br/>
            <a:r>
              <a:t>24h-Dopamin-Detox:</a:t>
            </a:r>
            <a:br/>
            <a:r>
              <a:t>□ Kein Smartphone (außer Anrufe)</a:t>
            </a:r>
            <a:br/>
            <a:r>
              <a:t>□ Kein Internet</a:t>
            </a:r>
            <a:br/>
            <a:r>
              <a:t>□ Keine Musik/Podcasts</a:t>
            </a:r>
            <a:br/>
            <a:r>
              <a:t>□ Kein TV/Streaming</a:t>
            </a:r>
            <a:br/>
            <a:r>
              <a:t>□ Kein Junk Food</a:t>
            </a:r>
            <a:br/>
            <a:r>
              <a:t>□ Kein Koffein (optional)</a:t>
            </a:r>
            <a:br/>
            <a:br/>
            <a:r>
              <a:t>ERLAUBT:</a:t>
            </a:r>
            <a:br/>
            <a:r>
              <a:t>✓ Gehen, Sport</a:t>
            </a:r>
            <a:br/>
            <a:r>
              <a:t>✓ Lesen (Papier-Bücher)</a:t>
            </a:r>
            <a:br/>
            <a:r>
              <a:t>✓ Schreiben, Denken</a:t>
            </a:r>
            <a:br/>
            <a:r>
              <a:t>✓ Soziale Interaktion (real, nicht digital)</a:t>
            </a:r>
            <a:br/>
            <a:r>
              <a:t>✓ Natur</a:t>
            </a:r>
            <a:br/>
            <a:br/>
            <a:r>
              <a:t>Effekt nach 24h:</a:t>
            </a:r>
            <a:br/>
            <a:r>
              <a:t>→ "Normale" Aktivitäten fühlen sich wieder befriedigender an</a:t>
            </a:r>
            <a:br/>
            <a:r>
              <a:t>→ Langfristige Ziele wirken wieder motivierend</a:t>
            </a:r>
            <a:br/>
            <a:r>
              <a:t>→ Baseline-Dopamin steigt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**STRATEGIE 2: ÜBERRASCHUNGS-BELOHNUNGEN**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505050"/>
                </a:solidFill>
                <a:latin typeface="Courier New"/>
              </a:defRPr>
            </a:pPr>
            <a:r>
              <a:t>Nutze den Reward Prediction Error:</a:t>
            </a:r>
            <a:br/>
            <a:br/>
            <a:r>
              <a:t>❌ FALSCH: "Wenn ich X erreiche, kaufe ich mir Y"</a:t>
            </a:r>
            <a:br/>
            <a:r>
              <a:t>   → Dopamin bei Erwartung, nicht bei Erreichung</a:t>
            </a:r>
            <a:br/>
            <a:r>
              <a:t>   → Bei Erreichen: Neutral (erwartet)</a:t>
            </a:r>
            <a:br/>
            <a:br/>
            <a:r>
              <a:t>✅ RICHTIG: "Ich arbeite an X. Manchmal belohne ich mich überraschend"</a:t>
            </a:r>
            <a:br/>
            <a:r>
              <a:t>   → Random Rewards (wie Slot Machines, aber selbstkontrolliert)</a:t>
            </a:r>
            <a:br/>
            <a:r>
              <a:t>   → Dopamin-Spike durch Überraschung</a:t>
            </a:r>
            <a:br/>
            <a:br/>
            <a:r>
              <a:t>Beispiel:</a:t>
            </a:r>
            <a:br/>
            <a:r>
              <a:t>- Würfel nach abgeschlossener Task</a:t>
            </a:r>
            <a:br/>
            <a:r>
              <a:t>- Bei 6: Sofort 15 Min Lieblings-Podcast</a:t>
            </a:r>
            <a:br/>
            <a:r>
              <a:t>- Sonst: Weiterarbeiten</a:t>
            </a:r>
            <a:br/>
            <a:br/>
            <a:r>
              <a:t>→ Arbeit wird mit "Es könnte Belohnung ko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**STRATEGIE 3: PROGRESS-TRACKING**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505050"/>
                </a:solidFill>
                <a:latin typeface="Courier New"/>
              </a:defRPr>
            </a:pPr>
            <a:r>
              <a:t>Dopamin liebt sichtbaren Fortschritt:</a:t>
            </a:r>
            <a:br/>
            <a:br/>
            <a:r>
              <a:t>✓ Seinfeld's "Don't Break the Chain"</a:t>
            </a:r>
            <a:br/>
            <a:r>
              <a:t>  → Tägliches X im Kalender</a:t>
            </a:r>
            <a:br/>
            <a:r>
              <a:t>  → Visueller Fortschritt = Dopamin</a:t>
            </a:r>
            <a:br/>
            <a:br/>
            <a:r>
              <a:t>✓ Progress Bars</a:t>
            </a:r>
            <a:br/>
            <a:r>
              <a:t>  → "25% geschafft" sichtbar machen</a:t>
            </a:r>
            <a:br/>
            <a:r>
              <a:t>  → Jede Bewegung = kleiner Dopamin-Hit</a:t>
            </a:r>
            <a:br/>
            <a:br/>
            <a:r>
              <a:t>✓ Micro-Wins feiern</a:t>
            </a:r>
            <a:br/>
            <a:r>
              <a:t>  → Nicht nur Endz iel, sondern jeden Schritt</a:t>
            </a:r>
            <a:br/>
            <a:r>
              <a:t>  → Häufige kleine Dopamin-Releases &gt; seltene große</a:t>
            </a:r>
            <a:br/>
            <a:br/>
            <a:r>
              <a:t>Neurowissenschaft:</a:t>
            </a:r>
            <a:br/>
            <a:r>
              <a:t>→ Dopamin bei FORTSCHRITT, nicht nur bei Abschluss</a:t>
            </a:r>
            <a:br/>
            <a:r>
              <a:t>→ "Goal Gradient Effect": Motivation steigt, je näher man dem Ziel kommt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**STRATEGIE 4: DOPAMIN-STACKING**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505050"/>
                </a:solidFill>
                <a:latin typeface="Courier New"/>
              </a:defRPr>
            </a:pPr>
            <a:r>
              <a:t>Verbinde "muss ich tun" mit "will ich tun":</a:t>
            </a:r>
            <a:br/>
            <a:br/>
            <a:r>
              <a:t>Beispiel: Langweilige Admin-Arbeit + Lieblings-Musik</a:t>
            </a:r>
            <a:br/>
            <a:r>
              <a:t>→ Musik = Dopamin → assoziiert mit Admin-Arbeit</a:t>
            </a:r>
            <a:br/>
            <a:r>
              <a:t>→ Admin-Arbeit wird dopaminerger</a:t>
            </a:r>
            <a:br/>
            <a:br/>
            <a:r>
              <a:t>ABER: Nur bei Routine-Tasks!</a:t>
            </a:r>
            <a:br/>
            <a:r>
              <a:t>Bei kognitiv anspruchsvollen Tasks: Ablenkung reduziert Performance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**STRATEGIE 5: DOPAMIN-REGENERATION**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505050"/>
                </a:solidFill>
                <a:latin typeface="Courier New"/>
              </a:defRPr>
            </a:pPr>
            <a:r>
              <a:t>Aktivitäten, die Baseline-Dopamin erhöhen:</a:t>
            </a:r>
            <a:br/>
            <a:br/>
            <a:r>
              <a:t>✓ Kälteexposition (kalte Dusche)</a:t>
            </a:r>
            <a:br/>
            <a:r>
              <a:t>  → +250% Dopamin für 2-3h</a:t>
            </a:r>
            <a:br/>
            <a:br/>
            <a:r>
              <a:t>✓ Bewegung (moderates Cardio)</a:t>
            </a:r>
            <a:br/>
            <a:r>
              <a:t>  → +50-100% Dopamin</a:t>
            </a:r>
            <a:br/>
            <a:br/>
            <a:r>
              <a:t>✓ Meditation</a:t>
            </a:r>
            <a:br/>
            <a:r>
              <a:t>  → +65% Dopamin (nach regelmäßiger Praxis)</a:t>
            </a:r>
            <a:br/>
            <a:br/>
            <a:r>
              <a:t>✓ Qualitätsschlaf</a:t>
            </a:r>
            <a:br/>
            <a:r>
              <a:t>  → Regeneriert Dopamin-System</a:t>
            </a:r>
            <a:br/>
            <a:br/>
            <a:r>
              <a:t>✓ Tyrosin-reiche Ernährung</a:t>
            </a:r>
            <a:br/>
            <a:r>
              <a:t>  → Vorläufer von Dopamin (Bananen, Mandeln, Avocado)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 b="1">
                <a:solidFill>
                  <a:srgbClr val="764BA2"/>
                </a:solidFill>
              </a:defRPr>
            </a:pPr>
            <a:r>
              <a:t>Übung: Ihr Dopamin-Profil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505050"/>
                </a:solidFill>
                <a:latin typeface="Courier New"/>
              </a:defRPr>
            </a:pPr>
            <a:r>
              <a:t>Woche 1: Tracking</a:t>
            </a:r>
            <a:br/>
            <a:r>
              <a:t>Notieren Sie täglich:</a:t>
            </a:r>
            <a:br/>
            <a:r>
              <a:t>1. Was hat mich heute stark motiviert? (Dopamin-High)</a:t>
            </a:r>
            <a:br/>
            <a:r>
              <a:t>2. Was fühlte sich "flach" an? (Dopamin-Low)</a:t>
            </a:r>
            <a:br/>
            <a:r>
              <a:t>3. Wie viele supernormale Stimuli? (Screen Time, etc.)</a:t>
            </a:r>
            <a:br/>
            <a:br/>
            <a:r>
              <a:t>Woche 2: Experiment</a:t>
            </a:r>
            <a:br/>
            <a:r>
              <a:t>Wählen Sie EINE Strategie (z.B. Dopamin-Detox 1x, oder Random Rewards)</a:t>
            </a:r>
            <a:br/>
            <a:r>
              <a:t>Beobachten Sie Veränderungen in Motivation für wichtige Ziele</a:t>
            </a:r>
            <a:br/>
            <a:br/>
            <a:r>
              <a:t>Woche 3-4: Integration</a:t>
            </a:r>
            <a:br/>
            <a:r>
              <a:t>Implementieren Sie 2-3 Strategien langfristig</a:t>
            </a:r>
            <a:br/>
            <a:r>
              <a:t>Messen Sie: Motivation für langfristige Ziele (Skala 1-10)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5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6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667EEA"/>
                </a:solidFill>
              </a:defRPr>
            </a:pPr>
            <a:r>
              <a:t>Wie Gewohnheiten im Gehirn entstehen – und wie Sie sie ändern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half"/>
          </p:nvPr>
        </p:nvSpPr>
        <p:spPr/>
        <p:txBody>
          <a:bodyPr wrap="square"/>
          <a:lstStyle/>
          <a:p>
            <a:pPr>
              <a:spcBef>
                <a:spcPts val="1600"/>
              </a:spcBef>
              <a:spcAft>
                <a:spcPts val="800"/>
              </a:spcAft>
              <a:defRPr sz="2400" b="1">
                <a:solidFill>
                  <a:srgbClr val="764BA2"/>
                </a:solidFill>
              </a:defRPr>
            </a:pPr>
            <a:r>
              <a:t>Die Neuroanatomie der Gewohnheiten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**Drei Gehirnbereiche im Zusammenspiel:**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50505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GEWOHNHEITS-SCHLEIFE IM GEHIRN                      │</a:t>
            </a:r>
            <a:br/>
            <a:r>
              <a:t>│                                                                  │</a:t>
            </a:r>
            <a:br/>
            <a:r>
              <a:t>│  ┌──────────────────────────────────────────────────────────┐  │</a:t>
            </a:r>
            <a:br/>
            <a:r>
              <a:t>│  │  1. BASALGANGLIEN (v.a. Striatum)                        │  │</a:t>
            </a:r>
            <a:br/>
            <a:r>
              <a:t>│  │     → Speicherort von Gewohnheiten                       │  │</a:t>
            </a:r>
            <a:br/>
            <a:r>
              <a:t>│  │     → Automatische Verhaltensmuster                      │  │</a:t>
            </a:r>
            <a:br/>
            <a:r>
              <a:t>│  │     → "Habit Center" 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 b="1">
                <a:solidFill>
                  <a:srgbClr val="764BA2"/>
                </a:solidFill>
              </a:defRPr>
            </a:pPr>
            <a:r>
              <a:t>Die Habit Loop (nach Charles Duhigg)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**Neurowissenschaftliche Erklärung:**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50505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THE HABIT LOOP                               │</a:t>
            </a:r>
            <a:br/>
            <a:r>
              <a:t>│                                                                  │</a:t>
            </a:r>
            <a:br/>
            <a:r>
              <a:t>│  1. CUE (Auslöser)                                              │</a:t>
            </a:r>
            <a:br/>
            <a:r>
              <a:t>│  ┌────────────────────────────────────────┐                    │</a:t>
            </a:r>
            <a:br/>
            <a:r>
              <a:t>│  │ Gehirn: "Aha, ich erkenne dieses Signal"│                    │</a:t>
            </a:r>
            <a:br/>
            <a:r>
              <a:t>│  │ → Aktivierung im Striatum beginnt       │                    │</a:t>
            </a:r>
            <a:br/>
            <a:r>
              <a:t>│  │ → Trigger kann sei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 b="1">
                <a:solidFill>
                  <a:srgbClr val="764BA2"/>
                </a:solidFill>
              </a:defRPr>
            </a:pPr>
            <a:r>
              <a:t>Warum Gewohnheiten so mächtig sind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**Neurologische Effizienz:**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**Energieersparnis**: Automatische Prozesse brauchen ~5% der Energie bewusster Entscheidungen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**Geschwindigkeit**: Gewohnheiten laufen in ~200ms ab (bewusste Entscheidung: 2-5 Sekunden)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**Kapazität**: Basalganglien können hunderte Gewohnheiten parallel verwalten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**Persistenz**: Einmal gebildete neuronale Bahnen bleiben (deshalb "alte Gewohnheiten sterben nie ganz")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 b="1">
                <a:solidFill>
                  <a:srgbClr val="764BA2"/>
                </a:solidFill>
              </a:defRPr>
            </a:pPr>
            <a:r>
              <a:t>Die 3 Phasen der Gewohnheitsbildung (neurologisch)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50505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PHASE 1: INITIATION (Woche 1-3)                                │</a:t>
            </a:r>
            <a:br/>
            <a:r>
              <a:t>│  ━━━━━━━━━━━━━━━━━━━━━━━━━━━━━━━━━━━━━━━━━━━━━━━━━━━━━━━━━━  │</a:t>
            </a:r>
            <a:br/>
            <a:r>
              <a:t>│                                                                  │</a:t>
            </a:r>
            <a:br/>
            <a:r>
              <a:t>│  Hohe PFC-Aktivität                                              │</a:t>
            </a:r>
            <a:br/>
            <a:r>
              <a:t>│  ████████████████████ (Willenskraft erforderlich)              │</a:t>
            </a:r>
            <a:br/>
            <a:r>
              <a:t>│                                                                  │</a:t>
            </a:r>
            <a:br/>
            <a:r>
              <a:t>│  Niedrige Basalganglien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**Forschung (Lally et al., 2010):**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Durchschnittlich 66 Tage bis zur Automatisierung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Range: 18-254 Tage (je nach Komplexität)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Einfache Gewohnheiten (Wasser trinken): ~20 Tage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Komplexe Gewohnheiten (50 Sit-ups): ~80 Tage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 b="1">
                <a:solidFill>
                  <a:srgbClr val="764BA2"/>
                </a:solidFill>
              </a:defRPr>
            </a:pPr>
            <a:r>
              <a:t>Schlechte Gewohnheiten ändern: Die neurowissenschaftliche Strategie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**PROBLEM:** Man kann neuronale Bahnen nicht "löschen"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**LÖSUNG:** Man kann sie durch neue Bahnen "überschreiben"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50505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HABIT REVERSAL: Die 4-Schritte-Methode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    │</a:t>
            </a:r>
            <a:br/>
            <a:r>
              <a:t>│ Schritt 1: CUE IDENTIFIZIEREN                                   │</a:t>
            </a:r>
            <a:br/>
            <a:r>
              <a:t>│ ┌─────────────────────────────────────────────────────────────┐ │</a:t>
            </a:r>
            <a:br/>
            <a:r>
              <a:t>│ │ Wann, wo, mit wem tritt die alte Gewohnheit auf?            │ │</a:t>
            </a:r>
            <a:br/>
            <a:r>
              <a:t>│ │ → Bewusst werden (a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 b="1">
                <a:solidFill>
                  <a:srgbClr val="764BA2"/>
                </a:solidFill>
              </a:defRPr>
            </a:pPr>
            <a:r>
              <a:t>Praxisbeispiel: Smartphone-Gewohnheit ändern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50505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ALTE GEWOHNHEIT: Beim Warten sofort Smartphone checken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    │</a:t>
            </a:r>
            <a:br/>
            <a:r>
              <a:t>│ CUE: Warten (Bus, Warteschlange, Pause)                         │</a:t>
            </a:r>
            <a:br/>
            <a:r>
              <a:t>│ ROUTINE: Smartphone rausnehmen, Social Media öffnen             │</a:t>
            </a:r>
            <a:br/>
            <a:r>
              <a:t>│ REWARD: Dopamin-Hit durch neue Infos, Langeweile beseitigt      │</a:t>
            </a:r>
            <a:br/>
            <a:r>
              <a:t>│                      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 b="1">
                <a:solidFill>
                  <a:srgbClr val="764BA2"/>
                </a:solidFill>
              </a:defRPr>
            </a:pPr>
            <a:r>
              <a:t>Implementation Intentions: Neurowissenschaftlich optimiert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**"Wenn-Dann-Pläne" stärken die Cue→Routine Verbindung:**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505050"/>
                </a:solidFill>
                <a:latin typeface="Courier New"/>
              </a:defRPr>
            </a:pPr>
            <a:r>
              <a:t>Standard-Vorsatz (schwach):</a:t>
            </a:r>
            <a:br/>
            <a:r>
              <a:t>"Ich will mehr meditieren"</a:t>
            </a:r>
            <a:br/>
            <a:r>
              <a:t>→ PFC muss bei jedem Cue neu entscheiden</a:t>
            </a:r>
            <a:br/>
            <a:r>
              <a:t>→ Niedrige Erfolgsquote (~20%)</a:t>
            </a:r>
            <a:br/>
            <a:br/>
            <a:r>
              <a:t>Implementation Intention (stark):</a:t>
            </a:r>
            <a:br/>
            <a:r>
              <a:t>"Wenn ich morgens Kaffee gemacht habe, DANN setze ich mich </a:t>
            </a:r>
            <a:br/>
            <a:r>
              <a:t>für 10 Minuten zur Meditation"</a:t>
            </a:r>
            <a:br/>
            <a:r>
              <a:t>→ Cue (Kaffee) ist mit Routine (Meditation) verknüpft</a:t>
            </a:r>
            <a:br/>
            <a:r>
              <a:t>→ Basalganglien können automatisieren</a:t>
            </a:r>
            <a:br/>
            <a:r>
              <a:t>→ Hohe Erfolgsquote (~60-80%)</a:t>
            </a:r>
            <a:br/>
            <a:br/>
            <a:r>
              <a:t>Forschung (Gollwitzer &amp; Sheeran, 2006):</a:t>
            </a:r>
            <a:br/>
            <a:r>
              <a:t>Implementation Intentions verdoppeln die Erfolgsquote bei </a:t>
            </a:r>
            <a:br/>
            <a:r>
              <a:t>Verhaltensänderungen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667EEA"/>
                </a:solidFill>
              </a:defRPr>
            </a:pPr>
            <a:r>
              <a:t>Neuroplastizität: "Use it or lose it, Use it and improve it"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half"/>
          </p:nvPr>
        </p:nvSpPr>
        <p:spPr/>
        <p:txBody>
          <a:bodyPr wrap="square"/>
          <a:lstStyle/>
          <a:p>
            <a:pPr>
              <a:spcBef>
                <a:spcPts val="1600"/>
              </a:spcBef>
              <a:spcAft>
                <a:spcPts val="800"/>
              </a:spcAft>
              <a:defRPr sz="2400" b="1">
                <a:solidFill>
                  <a:srgbClr val="764BA2"/>
                </a:solidFill>
              </a:defRPr>
            </a:pPr>
            <a:r>
              <a:t>Was ist Neuroplastizität?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**Definition:**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Neuroplastizität (auch: neuronale Plastizität) bezeichnet die Fähigkeit des Gehirns, seine Struktur und Funktion als Reaktion auf Erfahrungen, Lernen und Verhalten zu verändern.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i="1">
                <a:solidFill>
                  <a:srgbClr val="646464"/>
                </a:solidFill>
              </a:defRPr>
            </a:pPr>
            <a:r>
              <a:t>""Das Gehirn ist wie ein Muskel: Was Sie trainieren, wird stärker."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 i="1">
                <a:solidFill>
                  <a:srgbClr val="646464"/>
                </a:solidFill>
              </a:defRPr>
            </a:pPr>
            <a:r>
              <a:t>"Was Sie vernachlässigen, wird schwächer.""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 b="1">
                <a:solidFill>
                  <a:srgbClr val="764BA2"/>
                </a:solidFill>
              </a:defRPr>
            </a:pPr>
            <a:r>
              <a:t>Die zwei Arten von Neuroplastizität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**1. Strukturelle Plastizität**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50505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VERÄNDERUNG DER GEHIRNSTRUKTUR        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   │</a:t>
            </a:r>
            <a:br/>
            <a:r>
              <a:t>│ Synaptogenese                                                   │</a:t>
            </a:r>
            <a:br/>
            <a:r>
              <a:t>│ → Neue Verbindungen zwischen Neuronen entstehen                │</a:t>
            </a:r>
            <a:br/>
            <a:r>
              <a:t>│ → Ca. 1.000 neue Synapsen pro Neuron möglich                  │</a:t>
            </a:r>
            <a:br/>
            <a:r>
              <a:t>│                            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**2. Funktionale Plastizität**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50505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VERÄNDERUNG DER GEHIRNFUNKTION        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   │</a:t>
            </a:r>
            <a:br/>
            <a:r>
              <a:t>│ Kortikale Reorganisation                                        │</a:t>
            </a:r>
            <a:br/>
            <a:r>
              <a:t>│ → Gehirnareale können neue Funktionen übernehmen               │</a:t>
            </a:r>
            <a:br/>
            <a:r>
              <a:t>│ → Beispiel: Blinde entwickeln stärkere auditive Verarbeitung  │</a:t>
            </a:r>
            <a:br/>
            <a:r>
              <a:t>│                             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 b="1">
                <a:solidFill>
                  <a:srgbClr val="764BA2"/>
                </a:solidFill>
              </a:defRPr>
            </a:pPr>
            <a:r>
              <a:t>Neuroplastizität über die Lebensspanne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50505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PLASTIZITÄT IM LEBENSVERLAUF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   │</a:t>
            </a:r>
            <a:br/>
            <a:r>
              <a:t>│ Kindheit (0-12 Jahre):                                          │</a:t>
            </a:r>
            <a:br/>
            <a:r>
              <a:t>│ ████████████████████████████ Höchste Plastizität              │</a:t>
            </a:r>
            <a:br/>
            <a:r>
              <a:t>│ → "Critical Periods" für Sprache, Motorik, Sozialverhalten    │</a:t>
            </a:r>
            <a:br/>
            <a:r>
              <a:t>│                             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 b="1">
                <a:solidFill>
                  <a:srgbClr val="764BA2"/>
                </a:solidFill>
              </a:defRPr>
            </a:pPr>
            <a:r>
              <a:t>Faktoren, die Neuroplastizität beeinflussen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**FÖRDERND ✅**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**Lernen &amp; Herausforderung**: Neue komplexe Skills erwerben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**Bewegung**: 30 Min moderate Bewegung → +BDNF (Brain-Derived Neurotrophic Factor)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**Schlaf**: 7-9 Stunden → Konsolidierung von neuem Wissen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**Ernährung**: Omega-3, Antioxidantien, ausreichend Protein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**Soziale Interaktion**: Komplexe soziale Situationen stimulieren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**Achtsamkeit &amp; Meditation**: Stärkt präfrontalen Cortex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**Stress-Management**: Moderater Stress optimal (Eustress)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**HEMMEND ❌**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**Chronischer Stress**: Erhöhtes Cortisol → Hippocampus-Schädigung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**Schlafmangel**: &lt; 6 Stunden → reduzierte Synaptogenese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**Bewegungsmangel**: Sitzende Lebensweise → weniger BDNF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**Monotonie**: Keine neuen Reize → "Pruning" ungenutzter Verbindungen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**Substanzmissbrauch**: Alkohol, Drogen → neurotoxische Effekte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**Chronische Entzündungen**: Systemische Inflammation → reduzierte Plastizität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 b="1">
                <a:solidFill>
                  <a:srgbClr val="764BA2"/>
                </a:solidFill>
              </a:defRPr>
            </a:pPr>
            <a:r>
              <a:t>Praxis: Neuroplastizität für Self-Leadership nutzen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**Die 10.000-Stunden-Regel (Anders Ericsson) neu verstanden:**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505050"/>
                </a:solidFill>
                <a:latin typeface="Courier New"/>
              </a:defRPr>
            </a:pPr>
            <a:r>
              <a:t>Es geht NICHT um Zeitaufwand allein, sondern um:</a:t>
            </a:r>
            <a:br/>
            <a:br/>
            <a:r>
              <a:t>1. DELIBERATE PRACTICE (bewusstes Üben)</a:t>
            </a:r>
            <a:br/>
            <a:r>
              <a:t>   → Fokussiert, mit klarem Ziel</a:t>
            </a:r>
            <a:br/>
            <a:r>
              <a:t>   → An der Grenze der aktuellen Fähigkeiten</a:t>
            </a:r>
            <a:br/>
            <a:r>
              <a:t>   → Mit direktem Feedback</a:t>
            </a:r>
            <a:br/>
            <a:br/>
            <a:r>
              <a:t>2. WIEDERHOLUNG mit VARIATION</a:t>
            </a:r>
            <a:br/>
            <a:r>
              <a:t>   → Nicht stumpf wiederholen, sondern variieren</a:t>
            </a:r>
            <a:br/>
            <a:r>
              <a:t>   → Fordert das Gehirn mehr → mehr Plastizität</a:t>
            </a:r>
            <a:br/>
            <a:br/>
            <a:r>
              <a:t>3. KONSOLIDIERUNG</a:t>
            </a:r>
            <a:br/>
            <a:r>
              <a:t>   → Pausen zwischen Übungsphasen</a:t>
            </a:r>
            <a:br/>
            <a:r>
              <a:t>   → Schlaf nach dem Lernen</a:t>
            </a:r>
            <a:br/>
            <a:r>
              <a:t>   → "Spaced Repetition" statt Massen-Lernen</a:t>
            </a:r>
            <a:br/>
            <a:br/>
            <a:r>
              <a:t>→ Ergebnis: Myelinisierung + starke neuronale Netz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400" b="1">
                <a:solidFill>
                  <a:srgbClr val="764BA2"/>
                </a:solidFill>
              </a:defRPr>
            </a:pPr>
            <a:r>
              <a:t>Ihr Neuroplastizitäts-Experiment (21 Tage)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t>**Ziel:** Eine neue Gewohnheit oder Skill aufbauen und Neuroplastizität spüren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200">
                <a:solidFill>
                  <a:srgbClr val="505050"/>
                </a:solidFill>
                <a:latin typeface="Courier New"/>
              </a:defRPr>
            </a:pPr>
            <a:r>
              <a:t>Wählen Sie EINE neue Praxis:</a:t>
            </a:r>
            <a:br/>
            <a:r>
              <a:t>□ Tägliche 10-Min-Meditation</a:t>
            </a:r>
            <a:br/>
            <a:r>
              <a:t>□ Neue Sprache lernen (15 Min/Tag)</a:t>
            </a:r>
            <a:br/>
            <a:r>
              <a:t>□ Instrument üben (20 Min/Tag)</a:t>
            </a:r>
            <a:br/>
            <a:r>
              <a:t>□ Neue Sport-Skill (z.B. Jonglieren)</a:t>
            </a:r>
            <a:br/>
            <a:r>
              <a:t>□ Kreatives Schreiben</a:t>
            </a:r>
            <a:br/>
            <a:br/>
            <a:r>
              <a:t>Tag 1-7: Anfangsphase</a:t>
            </a:r>
            <a:br/>
            <a:r>
              <a:t>→ Fühlt sich schwer an, braucht volle Konzentration</a:t>
            </a:r>
            <a:br/>
            <a:r>
              <a:t>→ Neuronale Netzwerke beginnen zu entstehen</a:t>
            </a:r>
            <a:br/>
            <a:br/>
            <a:r>
              <a:t>Tag 8-14: Konsolidierung</a:t>
            </a:r>
            <a:br/>
            <a:r>
              <a:t>→ Wird etwas leichter, braucht weniger Anstrengung</a:t>
            </a:r>
            <a:br/>
            <a:r>
              <a:t>→ Synapsen werden gestärkt, frühe Myelinisierung</a:t>
            </a:r>
            <a:br/>
            <a:br/>
            <a:r>
              <a:t>Tag 15-21: Automatisierung</a:t>
            </a:r>
            <a:br/>
            <a:r>
              <a:t>→ Fühlt sich natürlicher an</a:t>
            </a:r>
            <a:br/>
            <a:r>
              <a:t>→ Stärkere neuro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5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p-deutsch">
  <a:themeElements>
    <a:clrScheme name="">
      <a:dk1>
        <a:srgbClr val="16235C"/>
      </a:dk1>
      <a:lt1>
        <a:srgbClr val="FFFFFF"/>
      </a:lt1>
      <a:dk2>
        <a:srgbClr val="16235C"/>
      </a:dk2>
      <a:lt2>
        <a:srgbClr val="CECECE"/>
      </a:lt2>
      <a:accent1>
        <a:srgbClr val="FFCC00"/>
      </a:accent1>
      <a:accent2>
        <a:srgbClr val="FFEEA7"/>
      </a:accent2>
      <a:accent3>
        <a:srgbClr val="FFFFFF"/>
      </a:accent3>
      <a:accent4>
        <a:srgbClr val="111C4D"/>
      </a:accent4>
      <a:accent5>
        <a:srgbClr val="FFE2AA"/>
      </a:accent5>
      <a:accent6>
        <a:srgbClr val="E7D897"/>
      </a:accent6>
      <a:hlink>
        <a:srgbClr val="CC0000"/>
      </a:hlink>
      <a:folHlink>
        <a:srgbClr val="919191"/>
      </a:folHlink>
    </a:clrScheme>
    <a:fontScheme name="help-deuts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r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elp-deutsch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elp-deutsch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elp-deutsch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elp-deutsch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elp-deutsch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elp-deutsch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elp-deutsch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elp-deutsch 8">
        <a:dk1>
          <a:srgbClr val="000000"/>
        </a:dk1>
        <a:lt1>
          <a:srgbClr val="FFFFFF"/>
        </a:lt1>
        <a:dk2>
          <a:srgbClr val="000000"/>
        </a:dk2>
        <a:lt2>
          <a:srgbClr val="CECECE"/>
        </a:lt2>
        <a:accent1>
          <a:srgbClr val="FAFD00"/>
        </a:accent1>
        <a:accent2>
          <a:srgbClr val="00AE00"/>
        </a:accent2>
        <a:accent3>
          <a:srgbClr val="FFFFFF"/>
        </a:accent3>
        <a:accent4>
          <a:srgbClr val="000000"/>
        </a:accent4>
        <a:accent5>
          <a:srgbClr val="FCFEAA"/>
        </a:accent5>
        <a:accent6>
          <a:srgbClr val="009D00"/>
        </a:accent6>
        <a:hlink>
          <a:srgbClr val="FC0128"/>
        </a:hlink>
        <a:folHlink>
          <a:srgbClr val="91919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elp-deutsch 9">
        <a:dk1>
          <a:srgbClr val="000000"/>
        </a:dk1>
        <a:lt1>
          <a:srgbClr val="FFFFFF"/>
        </a:lt1>
        <a:dk2>
          <a:srgbClr val="000000"/>
        </a:dk2>
        <a:lt2>
          <a:srgbClr val="CECECE"/>
        </a:lt2>
        <a:accent1>
          <a:srgbClr val="FAFD00"/>
        </a:accent1>
        <a:accent2>
          <a:srgbClr val="FCFEB9"/>
        </a:accent2>
        <a:accent3>
          <a:srgbClr val="FFFFFF"/>
        </a:accent3>
        <a:accent4>
          <a:srgbClr val="000000"/>
        </a:accent4>
        <a:accent5>
          <a:srgbClr val="FCFEAA"/>
        </a:accent5>
        <a:accent6>
          <a:srgbClr val="E4E6A7"/>
        </a:accent6>
        <a:hlink>
          <a:srgbClr val="FC0128"/>
        </a:hlink>
        <a:folHlink>
          <a:srgbClr val="91919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D:\Data\dot97\help-deutsch.pot</Template>
  <TotalTime>0</TotalTime>
  <Pages>2</Pages>
  <Words>841</Words>
  <Application>Microsoft Office PowerPoint</Application>
  <PresentationFormat>A4-Papier (210 x 297 mm)</PresentationFormat>
  <Paragraphs>91</Paragraphs>
  <Slides>10</Slides>
  <Notes>10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8" baseType="lpstr">
      <vt:lpstr>-apple-system</vt:lpstr>
      <vt:lpstr>Arial</vt:lpstr>
      <vt:lpstr>Helvetica Neue</vt:lpstr>
      <vt:lpstr>Segoe UI</vt:lpstr>
      <vt:lpstr>Symbol</vt:lpstr>
      <vt:lpstr>Times New Roman</vt:lpstr>
      <vt:lpstr>Wingdings</vt:lpstr>
      <vt:lpstr>help-deutsch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Agenda</vt:lpstr>
      <vt:lpstr>PowerPoint-Präsentation</vt:lpstr>
      <vt:lpstr>PowerPoint-Präsentation</vt:lpstr>
      <vt:lpstr>PowerPoint-Präsentation</vt:lpstr>
      <vt:lpstr>PowerPoint-Präsentation</vt:lpstr>
    </vt:vector>
  </TitlesOfParts>
  <Company>Arthur D. Little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BTP Profile</dc:title>
  <dc:creator>TT</dc:creator>
  <cp:lastModifiedBy>Achim DEHNERT</cp:lastModifiedBy>
  <cp:revision>2601</cp:revision>
  <cp:lastPrinted>2016-02-29T10:31:20Z</cp:lastPrinted>
  <dcterms:created xsi:type="dcterms:W3CDTF">2003-03-18T14:21:50Z</dcterms:created>
  <dcterms:modified xsi:type="dcterms:W3CDTF">2025-11-03T17:23:06Z</dcterms:modified>
</cp:coreProperties>
</file>